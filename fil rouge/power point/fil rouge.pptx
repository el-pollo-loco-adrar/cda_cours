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3" r:id="rId9"/>
    <p:sldId id="282" r:id="rId10"/>
    <p:sldId id="285" r:id="rId11"/>
    <p:sldId id="287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52" autoAdjust="0"/>
  </p:normalViewPr>
  <p:slideViewPr>
    <p:cSldViewPr snapToGrid="0" showGuides="1">
      <p:cViewPr>
        <p:scale>
          <a:sx n="66" d="100"/>
          <a:sy n="66" d="100"/>
        </p:scale>
        <p:origin x="174" y="30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Série 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Sheet1!$A$2:$A$10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12</c:v>
                </c:pt>
                <c:pt idx="7">
                  <c:v>15</c:v>
                </c:pt>
                <c:pt idx="8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21-4E34-B1DE-91754F1A4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9086552"/>
        <c:axId val="659085568"/>
      </c:lineChart>
      <c:catAx>
        <c:axId val="6590865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59085568"/>
        <c:crosses val="autoZero"/>
        <c:auto val="1"/>
        <c:lblAlgn val="ctr"/>
        <c:lblOffset val="100"/>
        <c:noMultiLvlLbl val="0"/>
      </c:catAx>
      <c:valAx>
        <c:axId val="65908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197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59086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fr-FR" noProof="0"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fr-FR" sz="1862" b="1" i="0" u="none" strike="noStrike" kern="1200" spc="0" baseline="0" noProof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  <a:r>
              <a:rPr lang="fr-FR" b="1" noProof="0" dirty="0">
                <a:solidFill>
                  <a:srgbClr val="595959"/>
                </a:solidFill>
              </a:rPr>
              <a:t>Analyse des risques du projet</a:t>
            </a:r>
          </a:p>
        </c:rich>
      </c:tx>
      <c:layout>
        <c:manualLayout>
          <c:xMode val="edge"/>
          <c:yMode val="edge"/>
          <c:x val="0.29115149013748964"/>
          <c:y val="1.74464489035410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862" b="1" i="0" u="none" strike="noStrike" kern="1200" spc="0" baseline="0" noProof="0">
              <a:solidFill>
                <a:srgbClr val="595959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10-41BD-93D7-6CD65AEF09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10-41BD-93D7-6CD65AEF09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10-41BD-93D7-6CD65AEF09A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Série 4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10-41BD-93D7-6CD65AEF09A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Série 5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10-41BD-93D7-6CD65AEF09A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Série 6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10-41BD-93D7-6CD65AEF09AB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Série 7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Catégorie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10-41BD-93D7-6CD65AEF09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1"/>
        <c:overlap val="-63"/>
        <c:axId val="389775312"/>
        <c:axId val="389775968"/>
      </c:barChart>
      <c:catAx>
        <c:axId val="3897753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9775968"/>
        <c:crosses val="autoZero"/>
        <c:auto val="1"/>
        <c:lblAlgn val="ctr"/>
        <c:lblOffset val="100"/>
        <c:noMultiLvlLbl val="0"/>
      </c:catAx>
      <c:valAx>
        <c:axId val="389775968"/>
        <c:scaling>
          <c:orientation val="minMax"/>
          <c:max val="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000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89775312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fr-FR" noProof="0"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22/07/2025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22/07/2025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0490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868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7649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4230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3749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775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smtClean="0"/>
              <a:t>Modifier le style des sous-titres du masque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FBD0B5-C938-46FA-A261-03ED515CD379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A8C78D-4B84-4824-98FC-FC793F293287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3E52D9-2236-48D7-A474-B82176BEDFD8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F2B334-E97D-451E-AAF4-586D5277A17D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CB744C-594E-45D8-9E60-8E82AADBD7E7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A6145B-E991-4569-B5FD-89EDE875BD59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763772-8D80-44D3-8959-07F73E3A4291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424D3F-17B5-4F45-A6EC-95CE493D43EE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A50E08-09AD-40D9-900D-FB3274F7DFD4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B6AC46-40A8-408B-AC61-D345F480F0AB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D1FB51-3E7B-447B-9E10-EFB5962B6705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1EE69CB-FB53-4A84-8ACA-64220D2BC26F}" type="datetime1">
              <a:rPr lang="fr-FR" noProof="0" smtClean="0"/>
              <a:t>22/07/2025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1384995"/>
          </a:xfrm>
        </p:spPr>
        <p:txBody>
          <a:bodyPr lIns="0" tIns="0" rIns="0" bIns="0" rtlCol="0" anchor="t">
            <a:spAutoFit/>
          </a:bodyPr>
          <a:lstStyle/>
          <a:p>
            <a:pPr rtl="0"/>
            <a:r>
              <a:rPr lang="fr-FR" b="1" dirty="0" smtClean="0">
                <a:solidFill>
                  <a:schemeClr val="bg1"/>
                </a:solidFill>
              </a:rPr>
              <a:t>Clean </a:t>
            </a:r>
            <a:r>
              <a:rPr lang="fr-FR" b="1" dirty="0" err="1" smtClean="0">
                <a:solidFill>
                  <a:schemeClr val="bg1"/>
                </a:solidFill>
              </a:rPr>
              <a:t>Connect</a:t>
            </a:r>
            <a:r>
              <a:rPr lang="fr-FR" dirty="0">
                <a:solidFill>
                  <a:schemeClr val="bg1"/>
                </a:solidFill>
              </a:rPr>
              <a:t/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sz="4000" dirty="0">
                <a:solidFill>
                  <a:schemeClr val="accent4"/>
                </a:solidFill>
              </a:rPr>
              <a:t>Présentation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Losange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7" name="Groupe 6" descr="Icône de graphique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orme libre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b="1" noProof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</a:t>
            </a:fld>
            <a:endParaRPr lang="fr-FR" b="1" noProof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293453" y="6266576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Wilfried </a:t>
            </a:r>
            <a:r>
              <a:rPr lang="fr-FR" dirty="0" err="1" smtClean="0"/>
              <a:t>Bourrinet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e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Sommaire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dirty="0">
                <a:latin typeface="+mj-lt"/>
              </a:rPr>
              <a:t>PROJET</a:t>
            </a:r>
          </a:p>
        </p:txBody>
      </p:sp>
      <p:sp>
        <p:nvSpPr>
          <p:cNvPr id="16" name="Rectangle : Coins arrondis 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244589" y="992799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1600" b="1" dirty="0" smtClean="0"/>
              <a:t>GESTION DE PROJET</a:t>
            </a:r>
            <a:endParaRPr lang="fr-FR" sz="1600" b="1" dirty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133464" y="893397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19" name="Rectangle : Coins arrondis 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354364" y="2289391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1600" b="1" dirty="0" smtClean="0"/>
              <a:t>ARBORESCENCE</a:t>
            </a:r>
            <a:endParaRPr lang="fr-FR" sz="1600" b="1" dirty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151603" y="2189989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1" name="Rectangle : Coins arrondis 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244589" y="3904260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1600" b="1" dirty="0" smtClean="0"/>
              <a:t>SPECIFICATIONS</a:t>
            </a:r>
          </a:p>
          <a:p>
            <a:pPr algn="ctr" rtl="0"/>
            <a:r>
              <a:rPr lang="fr-FR" sz="1600" b="1" dirty="0" smtClean="0"/>
              <a:t>FONCTIONELLES</a:t>
            </a:r>
            <a:endParaRPr lang="fr-FR" sz="1600" b="1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133464" y="3804858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5" name="Rectangle : Coins arrondis 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979853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b="1" dirty="0" smtClean="0"/>
              <a:t>PRESENTATION</a:t>
            </a:r>
            <a:endParaRPr lang="fr-FR" sz="1600" b="1" dirty="0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880451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7" name="Rectangle : Coins arrondis 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2388793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b="1" dirty="0" smtClean="0"/>
              <a:t>TECHNOLOGIES</a:t>
            </a:r>
          </a:p>
          <a:p>
            <a:pPr rtl="0"/>
            <a:r>
              <a:rPr lang="fr-FR" sz="1600" b="1" dirty="0" smtClean="0"/>
              <a:t>UTILISEES</a:t>
            </a:r>
            <a:endParaRPr lang="fr-FR" sz="1600" b="1" dirty="0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2289391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9" name="Rectangle : Coins arrondis 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897134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b="1" dirty="0" smtClean="0"/>
              <a:t>MAQUETTES </a:t>
            </a:r>
          </a:p>
          <a:p>
            <a:pPr rtl="0"/>
            <a:r>
              <a:rPr lang="fr-FR" sz="1600" b="1" dirty="0" smtClean="0"/>
              <a:t>&amp; ACCESSIBILITE</a:t>
            </a:r>
            <a:endParaRPr lang="fr-FR" sz="1600" b="1" dirty="0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797732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31" name="Groupe 30" descr="Icônes de graphique à barres et en courbes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3966361" y="1176512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orme libre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3" name="Forme libre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34" name="Forme libre 1676" descr="Icône de case à cocher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430485" y="1190418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35" name="Forme libre 4665" descr="Icône de graphique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539300" y="2486050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36" name="Groupe 35" descr="Icône de personne et d’engrenage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434328" y="4104760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orme libre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8" name="Forme libre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39" name="Groupe 38" descr="Icône d’engrenages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3968282" y="4095714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orme libre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1" name="Forme libre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42" name="Forme libre 4346" descr="Icône de graphique en boîte à moustaches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2586412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2</a:t>
            </a:fld>
            <a:endParaRPr lang="fr-FR" noProof="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405" y="2543459"/>
            <a:ext cx="2223262" cy="2172569"/>
          </a:xfrm>
          <a:prstGeom prst="rect">
            <a:avLst/>
          </a:prstGeom>
        </p:spPr>
      </p:pic>
      <p:sp>
        <p:nvSpPr>
          <p:cNvPr id="46" name="Rectangle : Coins arrondis 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5503775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b="1" dirty="0" smtClean="0"/>
              <a:t>TECHNOLOGIES</a:t>
            </a:r>
          </a:p>
          <a:p>
            <a:pPr rtl="0"/>
            <a:r>
              <a:rPr lang="fr-FR" sz="1600" b="1" dirty="0" smtClean="0"/>
              <a:t>UTILISEES</a:t>
            </a:r>
            <a:endParaRPr lang="fr-FR" sz="1600" b="1" dirty="0"/>
          </a:p>
        </p:txBody>
      </p:sp>
      <p:sp>
        <p:nvSpPr>
          <p:cNvPr id="47" name="Oval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5404373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8" name="Forme libre 4346" descr="Icône de graphique en boîte à moustaches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5701394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Présentation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èze 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1303741" y="2769515"/>
            <a:ext cx="6132287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3" name="Trapèze 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3058" y="2769515"/>
            <a:ext cx="6132287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4" name="Trapèze 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29858" y="2769516"/>
            <a:ext cx="6132284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5" name="Trapèze 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196656" y="2727421"/>
            <a:ext cx="6132283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6" name="Trapèze 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365613" y="2769516"/>
            <a:ext cx="613228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1986682"/>
            <a:ext cx="1371600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2800" b="1" u="sng" dirty="0" smtClean="0">
                <a:solidFill>
                  <a:schemeClr val="bg1"/>
                </a:solidFill>
              </a:rPr>
              <a:t>Objectif </a:t>
            </a:r>
            <a:r>
              <a:rPr lang="fr-FR" sz="2800" b="1" u="sng" dirty="0" err="1" smtClean="0">
                <a:solidFill>
                  <a:schemeClr val="bg1"/>
                </a:solidFill>
              </a:rPr>
              <a:t>pricipal</a:t>
            </a:r>
            <a:endParaRPr lang="fr-FR" sz="2800" b="1" u="sng" dirty="0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1986682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ANALYSE TECHNIQUE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1986682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ANALYSE FINANCIÈRE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1986682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ANALYSE ÉCONOMIQUE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1986682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ANALYSE ÉCOLOGIQUE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5304" y="3495219"/>
            <a:ext cx="1752042" cy="2932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Mise en relation de entreprises du secteur du nettoyage avec des travailleurs disponible pour des missions ponctuelles</a:t>
            </a: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2753725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et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magna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2753725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et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magna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2753725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et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magna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2753725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et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dolore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 magna 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6" name="Forme libre 4197" descr="Icône de chariot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1204686"/>
            <a:ext cx="380334" cy="411949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57" name="Forme libre 4344" descr="Icône de clé à molette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1187403"/>
            <a:ext cx="373996" cy="441910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58" name="Groupe 57" descr="Icône d’argent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1181644"/>
            <a:ext cx="380334" cy="451895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orme libre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0" name="Forme libre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1" name="Forme libre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2" name="Forme libre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3" name="Forme libre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4" name="Forme libre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5" name="Forme libre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6" name="Forme libre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67" name="Groupe 66" descr="Icône de boulier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1181644"/>
            <a:ext cx="382447" cy="451895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orme libre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9" name="Forme libre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0" name="Forme libre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1" name="Forme libre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72" name="Forme libre 2319" descr="Icône de feuille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1191725"/>
            <a:ext cx="367656" cy="434418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du projet</a:t>
            </a: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e 2">
            <a:extLst>
              <a:ext uri="{FF2B5EF4-FFF2-40B4-BE49-F238E27FC236}">
                <a16:creationId xmlns:a16="http://schemas.microsoft.com/office/drawing/2014/main" id="{9F23A462-D581-4451-A275-D8FA412E14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1786303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 dirty="0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3FAD125B-9A3B-49A4-B9EC-C8A6D3CF9C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4071326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233E4AB5-6FC1-4454-9421-850EF5A4AD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109244" y="2928814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40123448-0B37-4226-B26C-A3081E6142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495256" y="2928814"/>
            <a:ext cx="1587500" cy="15875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355211EE-8286-42CD-A4AF-EDD1186B28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2928814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D3287700-63E7-4098-B825-B123C11134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1107833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69943F00-C6CB-4F10-A02B-801F37984D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4749795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cxnSp>
        <p:nvCxnSpPr>
          <p:cNvPr id="10" name="Connecteur : Coude 9">
            <a:extLst>
              <a:ext uri="{FF2B5EF4-FFF2-40B4-BE49-F238E27FC236}">
                <a16:creationId xmlns:a16="http://schemas.microsoft.com/office/drawing/2014/main" id="{78C71AAC-D0D2-4BBF-B302-54163A284E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stCxn id="3" idx="6"/>
            <a:endCxn id="41" idx="6"/>
          </p:cNvCxnSpPr>
          <p:nvPr/>
        </p:nvCxnSpPr>
        <p:spPr>
          <a:xfrm>
            <a:off x="3310732" y="2580053"/>
            <a:ext cx="12700" cy="2285023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31AB5AC-284A-472B-B8E5-2F198F4E96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3540125" y="3722564"/>
            <a:ext cx="569119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 77">
            <a:extLst>
              <a:ext uri="{FF2B5EF4-FFF2-40B4-BE49-F238E27FC236}">
                <a16:creationId xmlns:a16="http://schemas.microsoft.com/office/drawing/2014/main" id="{91394D4E-BC7A-418D-B233-6C374456AEA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42" idx="6"/>
            <a:endCxn id="73" idx="2"/>
          </p:cNvCxnSpPr>
          <p:nvPr/>
        </p:nvCxnSpPr>
        <p:spPr>
          <a:xfrm>
            <a:off x="5696744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61AAA85B-D8C7-43BE-844A-6252650151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73" idx="6"/>
            <a:endCxn id="75" idx="2"/>
          </p:cNvCxnSpPr>
          <p:nvPr/>
        </p:nvCxnSpPr>
        <p:spPr>
          <a:xfrm>
            <a:off x="8082756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Coude 20">
            <a:extLst>
              <a:ext uri="{FF2B5EF4-FFF2-40B4-BE49-F238E27FC236}">
                <a16:creationId xmlns:a16="http://schemas.microsoft.com/office/drawing/2014/main" id="{4741AA56-D9ED-492E-8385-5CB8274B12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stCxn id="76" idx="2"/>
            <a:endCxn id="77" idx="2"/>
          </p:cNvCxnSpPr>
          <p:nvPr/>
        </p:nvCxnSpPr>
        <p:spPr>
          <a:xfrm rot="10800000" flipV="1">
            <a:off x="8881268" y="1901583"/>
            <a:ext cx="12700" cy="3641962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BEBF752-C33D-4EC4-8210-F7B1D3A10097}"/>
              </a:ext>
            </a:extLst>
          </p:cNvPr>
          <p:cNvSpPr/>
          <p:nvPr/>
        </p:nvSpPr>
        <p:spPr>
          <a:xfrm>
            <a:off x="1831182" y="2333832"/>
            <a:ext cx="1371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Objectifs de management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EC02E4-F054-4111-9038-AE0BDA4C8060}"/>
              </a:ext>
            </a:extLst>
          </p:cNvPr>
          <p:cNvSpPr/>
          <p:nvPr/>
        </p:nvSpPr>
        <p:spPr>
          <a:xfrm>
            <a:off x="1831182" y="4618854"/>
            <a:ext cx="1371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Objectifs du client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4217194" y="3476343"/>
            <a:ext cx="1371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Objectifs du projet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F6EE26A-3174-49AD-900E-08C045755F3C}"/>
              </a:ext>
            </a:extLst>
          </p:cNvPr>
          <p:cNvSpPr/>
          <p:nvPr/>
        </p:nvSpPr>
        <p:spPr>
          <a:xfrm>
            <a:off x="6607968" y="3476343"/>
            <a:ext cx="1371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Plan de mise en œuvre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69453F-B845-4467-8C29-7A6677641EC0}"/>
              </a:ext>
            </a:extLst>
          </p:cNvPr>
          <p:cNvSpPr/>
          <p:nvPr/>
        </p:nvSpPr>
        <p:spPr>
          <a:xfrm>
            <a:off x="8989218" y="3599454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Plannings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7CFAFBF-6B2A-49A8-ADCE-FD94A08C87B3}"/>
              </a:ext>
            </a:extLst>
          </p:cNvPr>
          <p:cNvSpPr/>
          <p:nvPr/>
        </p:nvSpPr>
        <p:spPr>
          <a:xfrm>
            <a:off x="8989218" y="1778472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Tâches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99F5E-706B-4272-818B-C87149038662}"/>
              </a:ext>
            </a:extLst>
          </p:cNvPr>
          <p:cNvSpPr/>
          <p:nvPr/>
        </p:nvSpPr>
        <p:spPr>
          <a:xfrm>
            <a:off x="8989218" y="5420435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Ressources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B46693-ED1F-429F-9B11-2794939E3B99}"/>
              </a:ext>
            </a:extLst>
          </p:cNvPr>
          <p:cNvSpPr/>
          <p:nvPr/>
        </p:nvSpPr>
        <p:spPr>
          <a:xfrm>
            <a:off x="6614715" y="462141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F8D1DEA-0363-4C10-925D-1D68E14CCEF4}"/>
              </a:ext>
            </a:extLst>
          </p:cNvPr>
          <p:cNvSpPr/>
          <p:nvPr/>
        </p:nvSpPr>
        <p:spPr>
          <a:xfrm>
            <a:off x="4228703" y="462141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927301F-4FAD-47A6-987B-1D9C411B7CC1}"/>
              </a:ext>
            </a:extLst>
          </p:cNvPr>
          <p:cNvSpPr/>
          <p:nvPr/>
        </p:nvSpPr>
        <p:spPr>
          <a:xfrm>
            <a:off x="10576718" y="1657927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81D58D3-87D7-4D40-B59F-7F751F117F96}"/>
              </a:ext>
            </a:extLst>
          </p:cNvPr>
          <p:cNvSpPr/>
          <p:nvPr/>
        </p:nvSpPr>
        <p:spPr>
          <a:xfrm>
            <a:off x="10576718" y="347890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C2972F-490F-4F2F-8A08-930B8C850374}"/>
              </a:ext>
            </a:extLst>
          </p:cNvPr>
          <p:cNvSpPr/>
          <p:nvPr/>
        </p:nvSpPr>
        <p:spPr>
          <a:xfrm>
            <a:off x="10576718" y="529988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266700" y="2336397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266700" y="4621420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73A57-8C07-453C-8611-1D99E8CDE14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90601"/>
            <a:ext cx="12192000" cy="3513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5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du projet</a:t>
            </a: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Graphique 6" descr="Graphique">
            <a:extLst>
              <a:ext uri="{FF2B5EF4-FFF2-40B4-BE49-F238E27FC236}">
                <a16:creationId xmlns:a16="http://schemas.microsoft.com/office/drawing/2014/main" id="{686C4999-06C3-490E-B7B9-866B1D0D9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7672168"/>
              </p:ext>
            </p:extLst>
          </p:nvPr>
        </p:nvGraphicFramePr>
        <p:xfrm>
          <a:off x="654050" y="1075266"/>
          <a:ext cx="10883900" cy="334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516ABC0-EF46-4159-B4CF-45B14EA929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152902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1E755E2-4A99-478A-BBEF-ACE16BEBFC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39100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1613421-44EB-4EA7-89AE-D8972D473414}"/>
              </a:ext>
            </a:extLst>
          </p:cNvPr>
          <p:cNvSpPr/>
          <p:nvPr/>
        </p:nvSpPr>
        <p:spPr>
          <a:xfrm>
            <a:off x="838205" y="5521007"/>
            <a:ext cx="274319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E47AC8-8358-4724-91F8-0D1B21FC5F47}"/>
              </a:ext>
            </a:extLst>
          </p:cNvPr>
          <p:cNvSpPr/>
          <p:nvPr/>
        </p:nvSpPr>
        <p:spPr>
          <a:xfrm>
            <a:off x="838205" y="5000266"/>
            <a:ext cx="27431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3200" dirty="0">
                <a:solidFill>
                  <a:schemeClr val="accent3">
                    <a:lumMod val="75000"/>
                  </a:schemeClr>
                </a:solidFill>
                <a:cs typeface="Segoe UI" panose="020B0502040204020203" pitchFamily="34" charset="0"/>
              </a:rPr>
              <a:t>5 980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F7E025-DDEC-4748-AAE9-9FA2A4BF1E49}"/>
              </a:ext>
            </a:extLst>
          </p:cNvPr>
          <p:cNvSpPr/>
          <p:nvPr/>
        </p:nvSpPr>
        <p:spPr>
          <a:xfrm>
            <a:off x="838205" y="4748574"/>
            <a:ext cx="274319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b="1" dirty="0">
                <a:solidFill>
                  <a:schemeClr val="accent3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176128-6116-4C3C-9CC3-394E6E116762}"/>
              </a:ext>
            </a:extLst>
          </p:cNvPr>
          <p:cNvSpPr/>
          <p:nvPr/>
        </p:nvSpPr>
        <p:spPr>
          <a:xfrm>
            <a:off x="4724403" y="5521007"/>
            <a:ext cx="274319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9BCDE9-6CF8-45EE-BFA1-6E32ED5C240E}"/>
              </a:ext>
            </a:extLst>
          </p:cNvPr>
          <p:cNvSpPr/>
          <p:nvPr/>
        </p:nvSpPr>
        <p:spPr>
          <a:xfrm>
            <a:off x="4724403" y="5000266"/>
            <a:ext cx="27431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3200" dirty="0">
                <a:solidFill>
                  <a:schemeClr val="accent4">
                    <a:lumMod val="75000"/>
                  </a:schemeClr>
                </a:solidFill>
                <a:cs typeface="Segoe UI" panose="020B0502040204020203" pitchFamily="34" charset="0"/>
              </a:rPr>
              <a:t>-1,19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DB637A-4822-4FE9-8AEA-11DEA7859049}"/>
              </a:ext>
            </a:extLst>
          </p:cNvPr>
          <p:cNvSpPr/>
          <p:nvPr/>
        </p:nvSpPr>
        <p:spPr>
          <a:xfrm>
            <a:off x="4724403" y="4748574"/>
            <a:ext cx="274319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b="1" dirty="0">
                <a:solidFill>
                  <a:schemeClr val="accent4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A68D61-8BDC-4C14-9F0D-CF0C946CD30A}"/>
              </a:ext>
            </a:extLst>
          </p:cNvPr>
          <p:cNvSpPr/>
          <p:nvPr/>
        </p:nvSpPr>
        <p:spPr>
          <a:xfrm>
            <a:off x="8610600" y="5521007"/>
            <a:ext cx="274319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64A1DA-19AA-4A0C-9ED2-92A9346B807A}"/>
              </a:ext>
            </a:extLst>
          </p:cNvPr>
          <p:cNvSpPr/>
          <p:nvPr/>
        </p:nvSpPr>
        <p:spPr>
          <a:xfrm>
            <a:off x="8610600" y="5000266"/>
            <a:ext cx="27431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3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113 200 50 €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4B18CA-09B5-4584-8D25-60B58EF68413}"/>
              </a:ext>
            </a:extLst>
          </p:cNvPr>
          <p:cNvSpPr/>
          <p:nvPr/>
        </p:nvSpPr>
        <p:spPr>
          <a:xfrm>
            <a:off x="8610600" y="4748574"/>
            <a:ext cx="274319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6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du projet</a:t>
            </a: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ercle : Vide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536828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" name="Cercle : Vide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946623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3" name="Cercle : Vide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356419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Cercle : Vide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241725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5" name="Cercle : Vide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51521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9" name="Cercle : Vide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061316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1292015" y="1357350"/>
            <a:ext cx="2428875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4529115" y="1357350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7766215" y="1357350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F5370-BF8E-406B-BEAE-B1224615626A}"/>
              </a:ext>
            </a:extLst>
          </p:cNvPr>
          <p:cNvSpPr/>
          <p:nvPr/>
        </p:nvSpPr>
        <p:spPr>
          <a:xfrm>
            <a:off x="1996865" y="5332295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F5A313-1C6C-4AEE-8556-576074B1BF06}"/>
              </a:ext>
            </a:extLst>
          </p:cNvPr>
          <p:cNvSpPr/>
          <p:nvPr/>
        </p:nvSpPr>
        <p:spPr>
          <a:xfrm>
            <a:off x="5233965" y="5332295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10CC8-6624-4352-A642-89EF6FA7DCE6}"/>
              </a:ext>
            </a:extLst>
          </p:cNvPr>
          <p:cNvSpPr/>
          <p:nvPr/>
        </p:nvSpPr>
        <p:spPr>
          <a:xfrm>
            <a:off x="8471065" y="5332295"/>
            <a:ext cx="2428875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41" name="Groupe 40" descr="Icône de personne et de bulle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4144646" y="2903628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42" name="Forme libre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2" name="Forme libre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53" name="Groupe 52" descr="Icône de livres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5571346" y="2901918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54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5" name="Forme libre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6" name="Forme libre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7" name="Forme libre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8" name="Forme libre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9" name="Forme libre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0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1" name="Forme libre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2" name="Forme libre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3" name="Forme libre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4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5" name="Forme libre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6" name="Forme libre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7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8" name="Forme libre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9" name="Forme libre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70" name="Forme libre 1671" descr="Icône de coche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6963181" y="2902974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71" name="Forme libre 3850" descr="Icône d’éclair ">
            <a:extLst>
              <a:ext uri="{FF2B5EF4-FFF2-40B4-BE49-F238E27FC236}">
                <a16:creationId xmlns:a16="http://schemas.microsoft.com/office/drawing/2014/main" id="{4F438411-AB3F-41D1-B7B0-3BD67465A272}"/>
              </a:ext>
            </a:extLst>
          </p:cNvPr>
          <p:cNvSpPr>
            <a:spLocks/>
          </p:cNvSpPr>
          <p:nvPr/>
        </p:nvSpPr>
        <p:spPr bwMode="auto">
          <a:xfrm>
            <a:off x="4904481" y="4108092"/>
            <a:ext cx="268346" cy="380334"/>
          </a:xfrm>
          <a:custGeom>
            <a:avLst/>
            <a:gdLst>
              <a:gd name="T0" fmla="*/ 635 w 636"/>
              <a:gd name="T1" fmla="*/ 369 h 901"/>
              <a:gd name="T2" fmla="*/ 632 w 636"/>
              <a:gd name="T3" fmla="*/ 365 h 901"/>
              <a:gd name="T4" fmla="*/ 629 w 636"/>
              <a:gd name="T5" fmla="*/ 362 h 901"/>
              <a:gd name="T6" fmla="*/ 625 w 636"/>
              <a:gd name="T7" fmla="*/ 360 h 901"/>
              <a:gd name="T8" fmla="*/ 621 w 636"/>
              <a:gd name="T9" fmla="*/ 360 h 901"/>
              <a:gd name="T10" fmla="*/ 337 w 636"/>
              <a:gd name="T11" fmla="*/ 360 h 901"/>
              <a:gd name="T12" fmla="*/ 409 w 636"/>
              <a:gd name="T13" fmla="*/ 17 h 901"/>
              <a:gd name="T14" fmla="*/ 409 w 636"/>
              <a:gd name="T15" fmla="*/ 13 h 901"/>
              <a:gd name="T16" fmla="*/ 408 w 636"/>
              <a:gd name="T17" fmla="*/ 7 h 901"/>
              <a:gd name="T18" fmla="*/ 405 w 636"/>
              <a:gd name="T19" fmla="*/ 3 h 901"/>
              <a:gd name="T20" fmla="*/ 400 w 636"/>
              <a:gd name="T21" fmla="*/ 1 h 901"/>
              <a:gd name="T22" fmla="*/ 395 w 636"/>
              <a:gd name="T23" fmla="*/ 0 h 901"/>
              <a:gd name="T24" fmla="*/ 390 w 636"/>
              <a:gd name="T25" fmla="*/ 0 h 901"/>
              <a:gd name="T26" fmla="*/ 385 w 636"/>
              <a:gd name="T27" fmla="*/ 2 h 901"/>
              <a:gd name="T28" fmla="*/ 382 w 636"/>
              <a:gd name="T29" fmla="*/ 6 h 901"/>
              <a:gd name="T30" fmla="*/ 2 w 636"/>
              <a:gd name="T31" fmla="*/ 547 h 901"/>
              <a:gd name="T32" fmla="*/ 1 w 636"/>
              <a:gd name="T33" fmla="*/ 550 h 901"/>
              <a:gd name="T34" fmla="*/ 0 w 636"/>
              <a:gd name="T35" fmla="*/ 554 h 901"/>
              <a:gd name="T36" fmla="*/ 0 w 636"/>
              <a:gd name="T37" fmla="*/ 559 h 901"/>
              <a:gd name="T38" fmla="*/ 1 w 636"/>
              <a:gd name="T39" fmla="*/ 562 h 901"/>
              <a:gd name="T40" fmla="*/ 4 w 636"/>
              <a:gd name="T41" fmla="*/ 566 h 901"/>
              <a:gd name="T42" fmla="*/ 8 w 636"/>
              <a:gd name="T43" fmla="*/ 568 h 901"/>
              <a:gd name="T44" fmla="*/ 11 w 636"/>
              <a:gd name="T45" fmla="*/ 569 h 901"/>
              <a:gd name="T46" fmla="*/ 15 w 636"/>
              <a:gd name="T47" fmla="*/ 570 h 901"/>
              <a:gd name="T48" fmla="*/ 299 w 636"/>
              <a:gd name="T49" fmla="*/ 570 h 901"/>
              <a:gd name="T50" fmla="*/ 228 w 636"/>
              <a:gd name="T51" fmla="*/ 882 h 901"/>
              <a:gd name="T52" fmla="*/ 228 w 636"/>
              <a:gd name="T53" fmla="*/ 888 h 901"/>
              <a:gd name="T54" fmla="*/ 229 w 636"/>
              <a:gd name="T55" fmla="*/ 892 h 901"/>
              <a:gd name="T56" fmla="*/ 232 w 636"/>
              <a:gd name="T57" fmla="*/ 896 h 901"/>
              <a:gd name="T58" fmla="*/ 236 w 636"/>
              <a:gd name="T59" fmla="*/ 900 h 901"/>
              <a:gd name="T60" fmla="*/ 239 w 636"/>
              <a:gd name="T61" fmla="*/ 901 h 901"/>
              <a:gd name="T62" fmla="*/ 243 w 636"/>
              <a:gd name="T63" fmla="*/ 901 h 901"/>
              <a:gd name="T64" fmla="*/ 246 w 636"/>
              <a:gd name="T65" fmla="*/ 901 h 901"/>
              <a:gd name="T66" fmla="*/ 249 w 636"/>
              <a:gd name="T67" fmla="*/ 900 h 901"/>
              <a:gd name="T68" fmla="*/ 252 w 636"/>
              <a:gd name="T69" fmla="*/ 897 h 901"/>
              <a:gd name="T70" fmla="*/ 254 w 636"/>
              <a:gd name="T71" fmla="*/ 895 h 901"/>
              <a:gd name="T72" fmla="*/ 633 w 636"/>
              <a:gd name="T73" fmla="*/ 384 h 901"/>
              <a:gd name="T74" fmla="*/ 635 w 636"/>
              <a:gd name="T75" fmla="*/ 381 h 901"/>
              <a:gd name="T76" fmla="*/ 636 w 636"/>
              <a:gd name="T77" fmla="*/ 376 h 901"/>
              <a:gd name="T78" fmla="*/ 636 w 636"/>
              <a:gd name="T79" fmla="*/ 372 h 901"/>
              <a:gd name="T80" fmla="*/ 635 w 636"/>
              <a:gd name="T81" fmla="*/ 369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36" h="901">
                <a:moveTo>
                  <a:pt x="635" y="369"/>
                </a:moveTo>
                <a:lnTo>
                  <a:pt x="632" y="365"/>
                </a:lnTo>
                <a:lnTo>
                  <a:pt x="629" y="362"/>
                </a:lnTo>
                <a:lnTo>
                  <a:pt x="625" y="360"/>
                </a:lnTo>
                <a:lnTo>
                  <a:pt x="621" y="360"/>
                </a:lnTo>
                <a:lnTo>
                  <a:pt x="337" y="360"/>
                </a:lnTo>
                <a:lnTo>
                  <a:pt x="409" y="17"/>
                </a:lnTo>
                <a:lnTo>
                  <a:pt x="409" y="13"/>
                </a:lnTo>
                <a:lnTo>
                  <a:pt x="408" y="7"/>
                </a:lnTo>
                <a:lnTo>
                  <a:pt x="405" y="3"/>
                </a:lnTo>
                <a:lnTo>
                  <a:pt x="400" y="1"/>
                </a:lnTo>
                <a:lnTo>
                  <a:pt x="395" y="0"/>
                </a:lnTo>
                <a:lnTo>
                  <a:pt x="390" y="0"/>
                </a:lnTo>
                <a:lnTo>
                  <a:pt x="385" y="2"/>
                </a:lnTo>
                <a:lnTo>
                  <a:pt x="382" y="6"/>
                </a:lnTo>
                <a:lnTo>
                  <a:pt x="2" y="547"/>
                </a:lnTo>
                <a:lnTo>
                  <a:pt x="1" y="550"/>
                </a:lnTo>
                <a:lnTo>
                  <a:pt x="0" y="554"/>
                </a:lnTo>
                <a:lnTo>
                  <a:pt x="0" y="559"/>
                </a:lnTo>
                <a:lnTo>
                  <a:pt x="1" y="562"/>
                </a:lnTo>
                <a:lnTo>
                  <a:pt x="4" y="566"/>
                </a:lnTo>
                <a:lnTo>
                  <a:pt x="8" y="568"/>
                </a:lnTo>
                <a:lnTo>
                  <a:pt x="11" y="569"/>
                </a:lnTo>
                <a:lnTo>
                  <a:pt x="15" y="570"/>
                </a:lnTo>
                <a:lnTo>
                  <a:pt x="299" y="570"/>
                </a:lnTo>
                <a:lnTo>
                  <a:pt x="228" y="882"/>
                </a:lnTo>
                <a:lnTo>
                  <a:pt x="228" y="888"/>
                </a:lnTo>
                <a:lnTo>
                  <a:pt x="229" y="892"/>
                </a:lnTo>
                <a:lnTo>
                  <a:pt x="232" y="896"/>
                </a:lnTo>
                <a:lnTo>
                  <a:pt x="236" y="900"/>
                </a:lnTo>
                <a:lnTo>
                  <a:pt x="239" y="901"/>
                </a:lnTo>
                <a:lnTo>
                  <a:pt x="243" y="901"/>
                </a:lnTo>
                <a:lnTo>
                  <a:pt x="246" y="901"/>
                </a:lnTo>
                <a:lnTo>
                  <a:pt x="249" y="900"/>
                </a:lnTo>
                <a:lnTo>
                  <a:pt x="252" y="897"/>
                </a:lnTo>
                <a:lnTo>
                  <a:pt x="254" y="895"/>
                </a:lnTo>
                <a:lnTo>
                  <a:pt x="633" y="384"/>
                </a:lnTo>
                <a:lnTo>
                  <a:pt x="635" y="381"/>
                </a:lnTo>
                <a:lnTo>
                  <a:pt x="636" y="376"/>
                </a:lnTo>
                <a:lnTo>
                  <a:pt x="636" y="372"/>
                </a:lnTo>
                <a:lnTo>
                  <a:pt x="635" y="36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72" name="Forme libre 3886" descr="Icône de loupe représentant la recherche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6257227" y="4108092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73" name="Groupe 72" descr="Icône d’écrans d’ordinateur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7667022" y="4107036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74" name="Forme libre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5" name="Forme libre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6" name="Forme libre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7" name="Forme libre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8" name="Forme libre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7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7149B44-59AD-4690-80C9-E1BD6CD00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smtClean="0"/>
              <a:pPr rtl="0"/>
              <a:t>7</a:t>
            </a:fld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du projet</a:t>
            </a: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4293C5FE-8B5A-43A8-B602-44F133628917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57133"/>
              </p:ext>
            </p:extLst>
          </p:nvPr>
        </p:nvGraphicFramePr>
        <p:xfrm>
          <a:off x="431800" y="1263895"/>
          <a:ext cx="11328400" cy="4000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840">
                  <a:extLst>
                    <a:ext uri="{9D8B030D-6E8A-4147-A177-3AD203B41FA5}">
                      <a16:colId xmlns:a16="http://schemas.microsoft.com/office/drawing/2014/main" val="1064767228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2110247153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671774837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042921663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140046485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773304150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528819555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3985123976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999644776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607982248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fr-FR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711411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463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03603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57650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268816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37457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174924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r-FR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56183"/>
                  </a:ext>
                </a:extLst>
              </a:tr>
            </a:tbl>
          </a:graphicData>
        </a:graphic>
      </p:graphicFrame>
      <p:sp>
        <p:nvSpPr>
          <p:cNvPr id="49" name="Forme libre 3886" descr="Icône de loupe représentant la recherche ">
            <a:extLst>
              <a:ext uri="{FF2B5EF4-FFF2-40B4-BE49-F238E27FC236}">
                <a16:creationId xmlns:a16="http://schemas.microsoft.com/office/drawing/2014/main" id="{9EE2839B-44FB-42AC-BF2D-037A4BE4BEC7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50" name="Groupe 49" descr="Icône de papier et stylo ">
            <a:extLst>
              <a:ext uri="{FF2B5EF4-FFF2-40B4-BE49-F238E27FC236}">
                <a16:creationId xmlns:a16="http://schemas.microsoft.com/office/drawing/2014/main" id="{2FA1B3F0-F0C6-4C2E-ABD3-6AE2AAF66A07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orme libre 4604">
              <a:extLst>
                <a:ext uri="{FF2B5EF4-FFF2-40B4-BE49-F238E27FC236}">
                  <a16:creationId xmlns:a16="http://schemas.microsoft.com/office/drawing/2014/main" id="{F6337A0B-842D-4F0F-B93C-DA957BFFC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9" name="Forme libre 4605">
              <a:extLst>
                <a:ext uri="{FF2B5EF4-FFF2-40B4-BE49-F238E27FC236}">
                  <a16:creationId xmlns:a16="http://schemas.microsoft.com/office/drawing/2014/main" id="{1D074A71-FBEB-4855-BA1E-068499BF4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0" name="Forme libre 4606">
              <a:extLst>
                <a:ext uri="{FF2B5EF4-FFF2-40B4-BE49-F238E27FC236}">
                  <a16:creationId xmlns:a16="http://schemas.microsoft.com/office/drawing/2014/main" id="{BD829E04-6F8B-4CD1-B1AB-1428DE5AC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99EDB192-0D59-41C6-AD02-EC166F03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82" name="Groupe 81" descr="Icône d’écran d’ordinateur ">
            <a:extLst>
              <a:ext uri="{FF2B5EF4-FFF2-40B4-BE49-F238E27FC236}">
                <a16:creationId xmlns:a16="http://schemas.microsoft.com/office/drawing/2014/main" id="{9418C6B8-1E51-409C-A0E5-16AE173CE45B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orme libre 1593">
              <a:extLst>
                <a:ext uri="{FF2B5EF4-FFF2-40B4-BE49-F238E27FC236}">
                  <a16:creationId xmlns:a16="http://schemas.microsoft.com/office/drawing/2014/main" id="{671BC17B-6D08-4ADE-B6A7-ECAE4A5E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4" name="Forme libre 1594">
              <a:extLst>
                <a:ext uri="{FF2B5EF4-FFF2-40B4-BE49-F238E27FC236}">
                  <a16:creationId xmlns:a16="http://schemas.microsoft.com/office/drawing/2014/main" id="{2A229F37-7B67-4EE7-B334-2F3DE95D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85" name="Groupe 84" descr="Icône d’écrans d’ordinateur">
            <a:extLst>
              <a:ext uri="{FF2B5EF4-FFF2-40B4-BE49-F238E27FC236}">
                <a16:creationId xmlns:a16="http://schemas.microsoft.com/office/drawing/2014/main" id="{A97EEAA0-CE6D-46A9-9837-67DD5CDA8CE9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orme libre 1630">
              <a:extLst>
                <a:ext uri="{FF2B5EF4-FFF2-40B4-BE49-F238E27FC236}">
                  <a16:creationId xmlns:a16="http://schemas.microsoft.com/office/drawing/2014/main" id="{CD9DD3B0-9FD5-473E-A718-FEFF0355F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7" name="Forme libre 1631">
              <a:extLst>
                <a:ext uri="{FF2B5EF4-FFF2-40B4-BE49-F238E27FC236}">
                  <a16:creationId xmlns:a16="http://schemas.microsoft.com/office/drawing/2014/main" id="{99F6D614-3AD7-472A-92A9-85406C4F4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8" name="Forme libre 1632">
              <a:extLst>
                <a:ext uri="{FF2B5EF4-FFF2-40B4-BE49-F238E27FC236}">
                  <a16:creationId xmlns:a16="http://schemas.microsoft.com/office/drawing/2014/main" id="{32C10E2D-7492-462D-9F53-98946445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9" name="Forme libre 1633">
              <a:extLst>
                <a:ext uri="{FF2B5EF4-FFF2-40B4-BE49-F238E27FC236}">
                  <a16:creationId xmlns:a16="http://schemas.microsoft.com/office/drawing/2014/main" id="{4FA8B819-0160-4EA0-86E9-6D9D4C17F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0" name="Forme libre 1634">
              <a:extLst>
                <a:ext uri="{FF2B5EF4-FFF2-40B4-BE49-F238E27FC236}">
                  <a16:creationId xmlns:a16="http://schemas.microsoft.com/office/drawing/2014/main" id="{2C93C243-2B14-4681-B84A-CD4AAEC1D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1" name="Forme libre 1635">
              <a:extLst>
                <a:ext uri="{FF2B5EF4-FFF2-40B4-BE49-F238E27FC236}">
                  <a16:creationId xmlns:a16="http://schemas.microsoft.com/office/drawing/2014/main" id="{220CF904-6E1F-487B-91DB-61DBBB3E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92" name="Groupe 91" descr="Icône représentant quatre carrés">
            <a:extLst>
              <a:ext uri="{FF2B5EF4-FFF2-40B4-BE49-F238E27FC236}">
                <a16:creationId xmlns:a16="http://schemas.microsoft.com/office/drawing/2014/main" id="{268D639A-62F0-4F2B-B632-5A45CD6DD132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orme libre 4743">
              <a:extLst>
                <a:ext uri="{FF2B5EF4-FFF2-40B4-BE49-F238E27FC236}">
                  <a16:creationId xmlns:a16="http://schemas.microsoft.com/office/drawing/2014/main" id="{A654CD2F-871A-4BFA-805D-636E7B505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4" name="Forme libre 4744">
              <a:extLst>
                <a:ext uri="{FF2B5EF4-FFF2-40B4-BE49-F238E27FC236}">
                  <a16:creationId xmlns:a16="http://schemas.microsoft.com/office/drawing/2014/main" id="{5A76ECC7-C209-476D-BB16-D2195C8D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5" name="Forme libre 4745">
              <a:extLst>
                <a:ext uri="{FF2B5EF4-FFF2-40B4-BE49-F238E27FC236}">
                  <a16:creationId xmlns:a16="http://schemas.microsoft.com/office/drawing/2014/main" id="{842A256B-87AA-4D95-A759-ECE316A1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6" name="Forme libre 4746">
              <a:extLst>
                <a:ext uri="{FF2B5EF4-FFF2-40B4-BE49-F238E27FC236}">
                  <a16:creationId xmlns:a16="http://schemas.microsoft.com/office/drawing/2014/main" id="{3D60C298-D43E-4861-BEA9-D00241730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7" name="Forme libre 4747">
              <a:extLst>
                <a:ext uri="{FF2B5EF4-FFF2-40B4-BE49-F238E27FC236}">
                  <a16:creationId xmlns:a16="http://schemas.microsoft.com/office/drawing/2014/main" id="{29B54F52-E2CA-455A-9AA3-2B20BE88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8" name="Forme libre 4748">
              <a:extLst>
                <a:ext uri="{FF2B5EF4-FFF2-40B4-BE49-F238E27FC236}">
                  <a16:creationId xmlns:a16="http://schemas.microsoft.com/office/drawing/2014/main" id="{46C54F87-D686-45B0-AC4F-BD4AD01BD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9" name="Forme libre 4749">
              <a:extLst>
                <a:ext uri="{FF2B5EF4-FFF2-40B4-BE49-F238E27FC236}">
                  <a16:creationId xmlns:a16="http://schemas.microsoft.com/office/drawing/2014/main" id="{2AD4B2ED-3FF5-413A-9E75-6FD5885D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0" name="Forme libre 4750">
              <a:extLst>
                <a:ext uri="{FF2B5EF4-FFF2-40B4-BE49-F238E27FC236}">
                  <a16:creationId xmlns:a16="http://schemas.microsoft.com/office/drawing/2014/main" id="{C94F299B-31F2-4CA4-A270-5E5DDD6CE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101" name="Groupe 100" descr="Icône de téléphone mobile et de bulle">
            <a:extLst>
              <a:ext uri="{FF2B5EF4-FFF2-40B4-BE49-F238E27FC236}">
                <a16:creationId xmlns:a16="http://schemas.microsoft.com/office/drawing/2014/main" id="{67EBF40E-2836-4B56-82CA-B0AE5592616F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orme libre 2023">
              <a:extLst>
                <a:ext uri="{FF2B5EF4-FFF2-40B4-BE49-F238E27FC236}">
                  <a16:creationId xmlns:a16="http://schemas.microsoft.com/office/drawing/2014/main" id="{8A677BB9-7FF5-46F1-AA35-A8280C80A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3" name="Forme libre 2024">
              <a:extLst>
                <a:ext uri="{FF2B5EF4-FFF2-40B4-BE49-F238E27FC236}">
                  <a16:creationId xmlns:a16="http://schemas.microsoft.com/office/drawing/2014/main" id="{A089C24C-3669-4556-BCE2-1150BE6C0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4" name="Forme libre 2025">
              <a:extLst>
                <a:ext uri="{FF2B5EF4-FFF2-40B4-BE49-F238E27FC236}">
                  <a16:creationId xmlns:a16="http://schemas.microsoft.com/office/drawing/2014/main" id="{AD44BCFE-381C-4084-BB3E-AC4E2D2D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5" name="Forme libre 2026">
              <a:extLst>
                <a:ext uri="{FF2B5EF4-FFF2-40B4-BE49-F238E27FC236}">
                  <a16:creationId xmlns:a16="http://schemas.microsoft.com/office/drawing/2014/main" id="{53FDEEB6-B7E5-4317-BF5C-105279C6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106" name="Groupe 105" descr="Icône de feuille de papier ">
            <a:extLst>
              <a:ext uri="{FF2B5EF4-FFF2-40B4-BE49-F238E27FC236}">
                <a16:creationId xmlns:a16="http://schemas.microsoft.com/office/drawing/2014/main" id="{5A7B4376-F48C-4D8D-B85C-E30B7B3E6434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ctangle 946">
              <a:extLst>
                <a:ext uri="{FF2B5EF4-FFF2-40B4-BE49-F238E27FC236}">
                  <a16:creationId xmlns:a16="http://schemas.microsoft.com/office/drawing/2014/main" id="{E782BD69-3279-4D29-AD06-A103E212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8" name="Rectangle 947">
              <a:extLst>
                <a:ext uri="{FF2B5EF4-FFF2-40B4-BE49-F238E27FC236}">
                  <a16:creationId xmlns:a16="http://schemas.microsoft.com/office/drawing/2014/main" id="{F640AD22-6F68-4745-898A-0D4AADEA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9" name="Rectangle 948">
              <a:extLst>
                <a:ext uri="{FF2B5EF4-FFF2-40B4-BE49-F238E27FC236}">
                  <a16:creationId xmlns:a16="http://schemas.microsoft.com/office/drawing/2014/main" id="{78786D45-C595-4A69-9D2B-EB0280EF2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0" name="Forme libre 949">
              <a:extLst>
                <a:ext uri="{FF2B5EF4-FFF2-40B4-BE49-F238E27FC236}">
                  <a16:creationId xmlns:a16="http://schemas.microsoft.com/office/drawing/2014/main" id="{CF9052AD-F144-4CD7-B6F9-E2E57C7EB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111" name="Groupe 110" descr="Icône de symbole représentant un e-mail">
            <a:extLst>
              <a:ext uri="{FF2B5EF4-FFF2-40B4-BE49-F238E27FC236}">
                <a16:creationId xmlns:a16="http://schemas.microsoft.com/office/drawing/2014/main" id="{20CE09B7-A9E8-4791-ABE4-6FEC5916661D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orme libre 3620">
              <a:extLst>
                <a:ext uri="{FF2B5EF4-FFF2-40B4-BE49-F238E27FC236}">
                  <a16:creationId xmlns:a16="http://schemas.microsoft.com/office/drawing/2014/main" id="{849DA0EF-7528-4EE0-8C56-4F1997586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3" name="Forme libre 3621">
              <a:extLst>
                <a:ext uri="{FF2B5EF4-FFF2-40B4-BE49-F238E27FC236}">
                  <a16:creationId xmlns:a16="http://schemas.microsoft.com/office/drawing/2014/main" id="{AD76D8F2-24A8-45C7-93D1-4E507EA2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4" name="Forme libre 3622">
              <a:extLst>
                <a:ext uri="{FF2B5EF4-FFF2-40B4-BE49-F238E27FC236}">
                  <a16:creationId xmlns:a16="http://schemas.microsoft.com/office/drawing/2014/main" id="{BFC5AFB5-B934-4878-815B-12196286A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5" name="Forme libre 3623">
              <a:extLst>
                <a:ext uri="{FF2B5EF4-FFF2-40B4-BE49-F238E27FC236}">
                  <a16:creationId xmlns:a16="http://schemas.microsoft.com/office/drawing/2014/main" id="{6FEA2310-F55A-42DA-913D-4342D4C4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6" name="Forme libre 3624">
              <a:extLst>
                <a:ext uri="{FF2B5EF4-FFF2-40B4-BE49-F238E27FC236}">
                  <a16:creationId xmlns:a16="http://schemas.microsoft.com/office/drawing/2014/main" id="{A80953AC-975D-4E59-BEC4-4B21BEA8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7" name="Forme libre 3625">
              <a:extLst>
                <a:ext uri="{FF2B5EF4-FFF2-40B4-BE49-F238E27FC236}">
                  <a16:creationId xmlns:a16="http://schemas.microsoft.com/office/drawing/2014/main" id="{DCEEE9E8-A5B3-4D81-814B-3132C0A5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118" name="Groupe 117" descr="Icône de cubes ">
            <a:extLst>
              <a:ext uri="{FF2B5EF4-FFF2-40B4-BE49-F238E27FC236}">
                <a16:creationId xmlns:a16="http://schemas.microsoft.com/office/drawing/2014/main" id="{75BF619E-615D-4C1A-A3A1-04DFC90E2F3F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orme libre 617">
              <a:extLst>
                <a:ext uri="{FF2B5EF4-FFF2-40B4-BE49-F238E27FC236}">
                  <a16:creationId xmlns:a16="http://schemas.microsoft.com/office/drawing/2014/main" id="{01C5157B-D811-44C7-8E5F-D3F25F98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0" name="Forme libre 618">
              <a:extLst>
                <a:ext uri="{FF2B5EF4-FFF2-40B4-BE49-F238E27FC236}">
                  <a16:creationId xmlns:a16="http://schemas.microsoft.com/office/drawing/2014/main" id="{90385080-F77C-4175-BA14-BE696271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1" name="Forme libre 619">
              <a:extLst>
                <a:ext uri="{FF2B5EF4-FFF2-40B4-BE49-F238E27FC236}">
                  <a16:creationId xmlns:a16="http://schemas.microsoft.com/office/drawing/2014/main" id="{B5ABC7AD-DBA6-420E-8EDC-F8D70A034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2" name="Forme libre 620">
              <a:extLst>
                <a:ext uri="{FF2B5EF4-FFF2-40B4-BE49-F238E27FC236}">
                  <a16:creationId xmlns:a16="http://schemas.microsoft.com/office/drawing/2014/main" id="{9AF2E18D-3033-4D0D-B36E-B0882096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3" name="Forme libre 621">
              <a:extLst>
                <a:ext uri="{FF2B5EF4-FFF2-40B4-BE49-F238E27FC236}">
                  <a16:creationId xmlns:a16="http://schemas.microsoft.com/office/drawing/2014/main" id="{10DED026-CA17-4314-AA7F-A291474A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4" name="Forme libre 622">
              <a:extLst>
                <a:ext uri="{FF2B5EF4-FFF2-40B4-BE49-F238E27FC236}">
                  <a16:creationId xmlns:a16="http://schemas.microsoft.com/office/drawing/2014/main" id="{AC238F9B-3904-4E03-9BCD-C8546D34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5" name="Forme libre 623">
              <a:extLst>
                <a:ext uri="{FF2B5EF4-FFF2-40B4-BE49-F238E27FC236}">
                  <a16:creationId xmlns:a16="http://schemas.microsoft.com/office/drawing/2014/main" id="{19E2AFFE-6F2F-4A41-BE44-30D95498E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6" name="Forme libre 624">
              <a:extLst>
                <a:ext uri="{FF2B5EF4-FFF2-40B4-BE49-F238E27FC236}">
                  <a16:creationId xmlns:a16="http://schemas.microsoft.com/office/drawing/2014/main" id="{5BB7C855-93D5-43D5-9ED8-FD815B08E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7" name="Forme libre 625">
              <a:extLst>
                <a:ext uri="{FF2B5EF4-FFF2-40B4-BE49-F238E27FC236}">
                  <a16:creationId xmlns:a16="http://schemas.microsoft.com/office/drawing/2014/main" id="{AE6F08CF-736A-40B8-AEB8-D64B67F37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128" name="Groupe 127" descr="Icône de personne et de bulle ">
            <a:extLst>
              <a:ext uri="{FF2B5EF4-FFF2-40B4-BE49-F238E27FC236}">
                <a16:creationId xmlns:a16="http://schemas.microsoft.com/office/drawing/2014/main" id="{E7EE81F4-E278-4BA7-8923-0D6DD1FEBDFA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orme libre 2993">
              <a:extLst>
                <a:ext uri="{FF2B5EF4-FFF2-40B4-BE49-F238E27FC236}">
                  <a16:creationId xmlns:a16="http://schemas.microsoft.com/office/drawing/2014/main" id="{DA50A160-1A41-427D-BA06-CB32B8C49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30" name="Forme libre 2994">
              <a:extLst>
                <a:ext uri="{FF2B5EF4-FFF2-40B4-BE49-F238E27FC236}">
                  <a16:creationId xmlns:a16="http://schemas.microsoft.com/office/drawing/2014/main" id="{983071EF-DBDF-4331-848B-74957C821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131" name="Forme libre 1837" descr="Marqueur avec le signe plus. ">
            <a:extLst>
              <a:ext uri="{FF2B5EF4-FFF2-40B4-BE49-F238E27FC236}">
                <a16:creationId xmlns:a16="http://schemas.microsoft.com/office/drawing/2014/main" id="{160F3D2A-DDEB-465E-AAD3-D5DF7B6D5B43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876981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2" name="Forme libre 1838" descr="Marqueur avec le signe moins. ">
            <a:extLst>
              <a:ext uri="{FF2B5EF4-FFF2-40B4-BE49-F238E27FC236}">
                <a16:creationId xmlns:a16="http://schemas.microsoft.com/office/drawing/2014/main" id="{B5F2BF4D-A7CC-4EBB-95EE-71610004A3D7}"/>
              </a:ext>
            </a:extLst>
          </p:cNvPr>
          <p:cNvSpPr>
            <a:spLocks noEditPoints="1"/>
          </p:cNvSpPr>
          <p:nvPr/>
        </p:nvSpPr>
        <p:spPr bwMode="auto">
          <a:xfrm>
            <a:off x="1989538" y="238521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3" name="Forme libre 1839" descr="Marqueur avec le signe de multiplication. ">
            <a:extLst>
              <a:ext uri="{FF2B5EF4-FFF2-40B4-BE49-F238E27FC236}">
                <a16:creationId xmlns:a16="http://schemas.microsoft.com/office/drawing/2014/main" id="{C1376BF3-C8B4-42C0-BF77-D3FADEB8D226}"/>
              </a:ext>
            </a:extLst>
          </p:cNvPr>
          <p:cNvSpPr>
            <a:spLocks noEditPoints="1"/>
          </p:cNvSpPr>
          <p:nvPr/>
        </p:nvSpPr>
        <p:spPr bwMode="auto">
          <a:xfrm>
            <a:off x="1978823" y="3385358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4" name="Forme libre 1839" descr="Marqueur avec le signe de multiplication. ">
            <a:extLst>
              <a:ext uri="{FF2B5EF4-FFF2-40B4-BE49-F238E27FC236}">
                <a16:creationId xmlns:a16="http://schemas.microsoft.com/office/drawing/2014/main" id="{78429B93-7238-4139-A703-26ABDBFB1498}"/>
              </a:ext>
            </a:extLst>
          </p:cNvPr>
          <p:cNvSpPr>
            <a:spLocks noEditPoints="1"/>
          </p:cNvSpPr>
          <p:nvPr/>
        </p:nvSpPr>
        <p:spPr bwMode="auto">
          <a:xfrm>
            <a:off x="1978823" y="4382024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5" name="Forme libre 1837" descr="Marqueur avec le signe plus. ">
            <a:extLst>
              <a:ext uri="{FF2B5EF4-FFF2-40B4-BE49-F238E27FC236}">
                <a16:creationId xmlns:a16="http://schemas.microsoft.com/office/drawing/2014/main" id="{FFEC666F-8CEB-456C-A2BE-0ED23EE4FADC}"/>
              </a:ext>
            </a:extLst>
          </p:cNvPr>
          <p:cNvSpPr>
            <a:spLocks noEditPoints="1"/>
          </p:cNvSpPr>
          <p:nvPr/>
        </p:nvSpPr>
        <p:spPr bwMode="auto">
          <a:xfrm>
            <a:off x="3139680" y="3385358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6" name="Forme libre 1839" descr="Marqueur avec le signe de multiplication. ">
            <a:extLst>
              <a:ext uri="{FF2B5EF4-FFF2-40B4-BE49-F238E27FC236}">
                <a16:creationId xmlns:a16="http://schemas.microsoft.com/office/drawing/2014/main" id="{406A6BB3-00DC-4CF5-AC64-82CF18B48C9C}"/>
              </a:ext>
            </a:extLst>
          </p:cNvPr>
          <p:cNvSpPr>
            <a:spLocks noEditPoints="1"/>
          </p:cNvSpPr>
          <p:nvPr/>
        </p:nvSpPr>
        <p:spPr bwMode="auto">
          <a:xfrm>
            <a:off x="4302523" y="2892703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7" name="Forme libre 1838" descr="Marqueur avec le signe moins. ">
            <a:extLst>
              <a:ext uri="{FF2B5EF4-FFF2-40B4-BE49-F238E27FC236}">
                <a16:creationId xmlns:a16="http://schemas.microsoft.com/office/drawing/2014/main" id="{0852AFAF-F59C-431F-8C82-94379765098D}"/>
              </a:ext>
            </a:extLst>
          </p:cNvPr>
          <p:cNvSpPr>
            <a:spLocks noEditPoints="1"/>
          </p:cNvSpPr>
          <p:nvPr/>
        </p:nvSpPr>
        <p:spPr bwMode="auto">
          <a:xfrm>
            <a:off x="5427446" y="388065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8" name="Forme libre 1837" descr="Marqueur avec le signe plus. ">
            <a:extLst>
              <a:ext uri="{FF2B5EF4-FFF2-40B4-BE49-F238E27FC236}">
                <a16:creationId xmlns:a16="http://schemas.microsoft.com/office/drawing/2014/main" id="{4C5127E9-68E5-46FA-8C57-25FDF54CF7BC}"/>
              </a:ext>
            </a:extLst>
          </p:cNvPr>
          <p:cNvSpPr>
            <a:spLocks noEditPoints="1"/>
          </p:cNvSpPr>
          <p:nvPr/>
        </p:nvSpPr>
        <p:spPr bwMode="auto">
          <a:xfrm>
            <a:off x="3139680" y="4865305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39" name="Forme libre 1837" descr="Marqueur avec le signe plus. ">
            <a:extLst>
              <a:ext uri="{FF2B5EF4-FFF2-40B4-BE49-F238E27FC236}">
                <a16:creationId xmlns:a16="http://schemas.microsoft.com/office/drawing/2014/main" id="{2359F2CA-3777-4AA1-A96A-2B49185A93F8}"/>
              </a:ext>
            </a:extLst>
          </p:cNvPr>
          <p:cNvSpPr>
            <a:spLocks noEditPoints="1"/>
          </p:cNvSpPr>
          <p:nvPr/>
        </p:nvSpPr>
        <p:spPr bwMode="auto">
          <a:xfrm>
            <a:off x="4306097" y="1876505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0" name="Forme libre 1838" descr="Marqueur avec le signe moins. ">
            <a:extLst>
              <a:ext uri="{FF2B5EF4-FFF2-40B4-BE49-F238E27FC236}">
                <a16:creationId xmlns:a16="http://schemas.microsoft.com/office/drawing/2014/main" id="{1FE19FFA-CAD6-453B-8808-4EB523DD1271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388065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1" name="Forme libre 1838" descr="Marqueur avec le signe moins. ">
            <a:extLst>
              <a:ext uri="{FF2B5EF4-FFF2-40B4-BE49-F238E27FC236}">
                <a16:creationId xmlns:a16="http://schemas.microsoft.com/office/drawing/2014/main" id="{C68F970D-304B-4DB3-A6C2-E214037CD6E5}"/>
              </a:ext>
            </a:extLst>
          </p:cNvPr>
          <p:cNvSpPr>
            <a:spLocks noEditPoints="1"/>
          </p:cNvSpPr>
          <p:nvPr/>
        </p:nvSpPr>
        <p:spPr bwMode="auto">
          <a:xfrm>
            <a:off x="6498033" y="238521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2" name="Forme libre 1837" descr="Marqueur avec le signe plus. ">
            <a:extLst>
              <a:ext uri="{FF2B5EF4-FFF2-40B4-BE49-F238E27FC236}">
                <a16:creationId xmlns:a16="http://schemas.microsoft.com/office/drawing/2014/main" id="{28204691-D113-415C-8A74-FFC7DBEA4A41}"/>
              </a:ext>
            </a:extLst>
          </p:cNvPr>
          <p:cNvSpPr>
            <a:spLocks noEditPoints="1"/>
          </p:cNvSpPr>
          <p:nvPr/>
        </p:nvSpPr>
        <p:spPr bwMode="auto">
          <a:xfrm>
            <a:off x="6494464" y="3385358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3" name="Forme libre 1839" descr="Marqueur avec le signe de multiplication. ">
            <a:extLst>
              <a:ext uri="{FF2B5EF4-FFF2-40B4-BE49-F238E27FC236}">
                <a16:creationId xmlns:a16="http://schemas.microsoft.com/office/drawing/2014/main" id="{9506A8E7-40C8-4CB3-909D-6D1FBA2D8F3D}"/>
              </a:ext>
            </a:extLst>
          </p:cNvPr>
          <p:cNvSpPr>
            <a:spLocks noEditPoints="1"/>
          </p:cNvSpPr>
          <p:nvPr/>
        </p:nvSpPr>
        <p:spPr bwMode="auto">
          <a:xfrm>
            <a:off x="7703738" y="2892703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4" name="Forme libre 1837" descr="Marqueur avec le signe plus. ">
            <a:extLst>
              <a:ext uri="{FF2B5EF4-FFF2-40B4-BE49-F238E27FC236}">
                <a16:creationId xmlns:a16="http://schemas.microsoft.com/office/drawing/2014/main" id="{9F58591E-3473-4F64-8EC7-B3C59E9BCF39}"/>
              </a:ext>
            </a:extLst>
          </p:cNvPr>
          <p:cNvSpPr>
            <a:spLocks noEditPoints="1"/>
          </p:cNvSpPr>
          <p:nvPr/>
        </p:nvSpPr>
        <p:spPr bwMode="auto">
          <a:xfrm>
            <a:off x="7704531" y="4382023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5" name="Forme libre 1837" descr="Marqueur avec le signe plus. ">
            <a:extLst>
              <a:ext uri="{FF2B5EF4-FFF2-40B4-BE49-F238E27FC236}">
                <a16:creationId xmlns:a16="http://schemas.microsoft.com/office/drawing/2014/main" id="{8ACB7BFA-2B1C-41FA-A91F-C2A74141E269}"/>
              </a:ext>
            </a:extLst>
          </p:cNvPr>
          <p:cNvSpPr>
            <a:spLocks noEditPoints="1"/>
          </p:cNvSpPr>
          <p:nvPr/>
        </p:nvSpPr>
        <p:spPr bwMode="auto">
          <a:xfrm>
            <a:off x="8787207" y="3385358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6" name="Forme libre 1837" descr="Marqueur avec le signe plus. ">
            <a:extLst>
              <a:ext uri="{FF2B5EF4-FFF2-40B4-BE49-F238E27FC236}">
                <a16:creationId xmlns:a16="http://schemas.microsoft.com/office/drawing/2014/main" id="{DC0F6511-C5AE-49E3-92DC-7B6FA6B2208D}"/>
              </a:ext>
            </a:extLst>
          </p:cNvPr>
          <p:cNvSpPr>
            <a:spLocks noEditPoints="1"/>
          </p:cNvSpPr>
          <p:nvPr/>
        </p:nvSpPr>
        <p:spPr bwMode="auto">
          <a:xfrm>
            <a:off x="9900044" y="4865305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7" name="Forme libre 1839" descr="Marqueur avec le signe de multiplication. ">
            <a:extLst>
              <a:ext uri="{FF2B5EF4-FFF2-40B4-BE49-F238E27FC236}">
                <a16:creationId xmlns:a16="http://schemas.microsoft.com/office/drawing/2014/main" id="{5CED8A16-6FBE-41A7-9A3B-6220F32B4ED2}"/>
              </a:ext>
            </a:extLst>
          </p:cNvPr>
          <p:cNvSpPr>
            <a:spLocks noEditPoints="1"/>
          </p:cNvSpPr>
          <p:nvPr/>
        </p:nvSpPr>
        <p:spPr bwMode="auto">
          <a:xfrm>
            <a:off x="11058919" y="4382024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809A67D-EE6E-45D1-AA73-B11A0B4F2508}"/>
              </a:ext>
            </a:extLst>
          </p:cNvPr>
          <p:cNvSpPr/>
          <p:nvPr/>
        </p:nvSpPr>
        <p:spPr>
          <a:xfrm>
            <a:off x="3276600" y="5537091"/>
            <a:ext cx="8075613" cy="64633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/>
            <a:r>
              <a:rPr lang="fr-FR" sz="1400" dirty="0"/>
              <a:t>“</a:t>
            </a:r>
            <a:r>
              <a:rPr lang="fr-FR" sz="1400" dirty="0" err="1"/>
              <a:t>Lorem</a:t>
            </a:r>
            <a:r>
              <a:rPr lang="fr-FR" sz="1400" dirty="0"/>
              <a:t> </a:t>
            </a:r>
            <a:r>
              <a:rPr lang="fr-FR" sz="1400" dirty="0" err="1"/>
              <a:t>ipsum</a:t>
            </a:r>
            <a:r>
              <a:rPr lang="fr-FR" sz="1400" dirty="0"/>
              <a:t> </a:t>
            </a:r>
            <a:r>
              <a:rPr lang="fr-FR" sz="1400" dirty="0" err="1"/>
              <a:t>dolor</a:t>
            </a:r>
            <a:r>
              <a:rPr lang="fr-FR" sz="1400" dirty="0"/>
              <a:t> </a:t>
            </a:r>
            <a:r>
              <a:rPr lang="fr-FR" sz="1400" dirty="0" err="1"/>
              <a:t>sit</a:t>
            </a:r>
            <a:r>
              <a:rPr lang="fr-FR" sz="1400" dirty="0"/>
              <a:t> </a:t>
            </a:r>
            <a:r>
              <a:rPr lang="fr-FR" sz="1400" dirty="0" err="1"/>
              <a:t>amet</a:t>
            </a:r>
            <a:r>
              <a:rPr lang="fr-FR" sz="1400" dirty="0"/>
              <a:t>, </a:t>
            </a:r>
            <a:r>
              <a:rPr lang="fr-FR" sz="1400" dirty="0" err="1"/>
              <a:t>consectetur</a:t>
            </a:r>
            <a:r>
              <a:rPr lang="fr-FR" sz="1400" dirty="0"/>
              <a:t> </a:t>
            </a:r>
            <a:r>
              <a:rPr lang="fr-FR" sz="1400" dirty="0" err="1"/>
              <a:t>adipiscing</a:t>
            </a:r>
            <a:r>
              <a:rPr lang="fr-FR" sz="1400" dirty="0"/>
              <a:t> </a:t>
            </a:r>
            <a:r>
              <a:rPr lang="fr-FR" sz="1400" dirty="0" err="1"/>
              <a:t>elit</a:t>
            </a:r>
            <a:r>
              <a:rPr lang="fr-FR" sz="1400" dirty="0"/>
              <a:t>. Duis </a:t>
            </a:r>
            <a:r>
              <a:rPr lang="fr-FR" sz="1400" dirty="0" err="1"/>
              <a:t>suscipit</a:t>
            </a:r>
            <a:r>
              <a:rPr lang="fr-FR" sz="1400" dirty="0"/>
              <a:t> in </a:t>
            </a:r>
            <a:r>
              <a:rPr lang="fr-FR" sz="1400" dirty="0" err="1"/>
              <a:t>tellus</a:t>
            </a:r>
            <a:r>
              <a:rPr lang="fr-FR" sz="1400" dirty="0"/>
              <a:t> </a:t>
            </a:r>
            <a:r>
              <a:rPr lang="fr-FR" sz="1400" dirty="0" err="1"/>
              <a:t>ac</a:t>
            </a:r>
            <a:r>
              <a:rPr lang="fr-FR" sz="1400" dirty="0"/>
              <a:t> bibendum. Sed </a:t>
            </a:r>
            <a:r>
              <a:rPr lang="fr-FR" sz="1400" dirty="0" err="1"/>
              <a:t>congue</a:t>
            </a:r>
            <a:r>
              <a:rPr lang="fr-FR" sz="1400" dirty="0"/>
              <a:t> </a:t>
            </a:r>
            <a:r>
              <a:rPr lang="fr-FR" sz="1400" dirty="0" err="1"/>
              <a:t>lacus</a:t>
            </a:r>
            <a:r>
              <a:rPr lang="fr-FR" sz="1400" dirty="0"/>
              <a:t> vitae </a:t>
            </a:r>
            <a:r>
              <a:rPr lang="fr-FR" sz="1400" dirty="0" err="1"/>
              <a:t>tellus</a:t>
            </a:r>
            <a:r>
              <a:rPr lang="fr-FR" sz="1400" dirty="0"/>
              <a:t> </a:t>
            </a:r>
            <a:r>
              <a:rPr lang="fr-FR" sz="1400" dirty="0" err="1"/>
              <a:t>finibus</a:t>
            </a:r>
            <a:r>
              <a:rPr lang="fr-FR" sz="1400" dirty="0"/>
              <a:t>, eu </a:t>
            </a:r>
            <a:r>
              <a:rPr lang="fr-FR" sz="1400" dirty="0" err="1"/>
              <a:t>faucibus</a:t>
            </a:r>
            <a:r>
              <a:rPr lang="fr-FR" sz="1400" dirty="0"/>
              <a:t> </a:t>
            </a:r>
            <a:r>
              <a:rPr lang="fr-FR" sz="1400" dirty="0" err="1"/>
              <a:t>nisi</a:t>
            </a:r>
            <a:r>
              <a:rPr lang="fr-FR" sz="1400" dirty="0"/>
              <a:t> </a:t>
            </a:r>
            <a:r>
              <a:rPr lang="fr-FR" sz="1400" dirty="0" err="1"/>
              <a:t>ullamcorper</a:t>
            </a:r>
            <a:r>
              <a:rPr lang="fr-FR" sz="1400" dirty="0"/>
              <a:t>. </a:t>
            </a:r>
            <a:r>
              <a:rPr lang="fr-FR" sz="1400" dirty="0" err="1"/>
              <a:t>Quisque</a:t>
            </a:r>
            <a:r>
              <a:rPr lang="fr-FR" sz="1400" dirty="0"/>
              <a:t> </a:t>
            </a:r>
            <a:r>
              <a:rPr lang="fr-FR" sz="1400" dirty="0" err="1"/>
              <a:t>volutpat</a:t>
            </a:r>
            <a:r>
              <a:rPr lang="fr-FR" sz="1400" dirty="0"/>
              <a:t> </a:t>
            </a:r>
            <a:r>
              <a:rPr lang="fr-FR" sz="1400" dirty="0" err="1"/>
              <a:t>leo</a:t>
            </a:r>
            <a:r>
              <a:rPr lang="fr-FR" sz="1400" dirty="0"/>
              <a:t> at </a:t>
            </a:r>
            <a:r>
              <a:rPr lang="fr-FR" sz="1400" dirty="0" err="1"/>
              <a:t>arcu</a:t>
            </a:r>
            <a:r>
              <a:rPr lang="fr-FR" sz="1400" dirty="0"/>
              <a:t> </a:t>
            </a:r>
            <a:r>
              <a:rPr lang="fr-FR" sz="1400" dirty="0" err="1"/>
              <a:t>placerat</a:t>
            </a:r>
            <a:r>
              <a:rPr lang="fr-FR" sz="1400" dirty="0"/>
              <a:t>, </a:t>
            </a:r>
            <a:r>
              <a:rPr lang="fr-FR" sz="1400" dirty="0" err="1"/>
              <a:t>quis</a:t>
            </a:r>
            <a:r>
              <a:rPr lang="fr-FR" sz="1400" dirty="0"/>
              <a:t> </a:t>
            </a:r>
            <a:r>
              <a:rPr lang="fr-FR" sz="1400" dirty="0" err="1"/>
              <a:t>pellentesque</a:t>
            </a:r>
            <a:r>
              <a:rPr lang="fr-FR" sz="1400" dirty="0"/>
              <a:t> </a:t>
            </a:r>
            <a:r>
              <a:rPr lang="fr-FR" sz="1400" dirty="0" err="1"/>
              <a:t>tellus</a:t>
            </a:r>
            <a:r>
              <a:rPr lang="fr-FR" sz="1400" dirty="0"/>
              <a:t> bibendum. </a:t>
            </a:r>
            <a:r>
              <a:rPr lang="fr-FR" sz="1400" dirty="0" err="1"/>
              <a:t>Proin</a:t>
            </a:r>
            <a:r>
              <a:rPr lang="fr-FR" sz="1400" dirty="0"/>
              <a:t> et </a:t>
            </a:r>
            <a:r>
              <a:rPr lang="fr-FR" sz="1400" dirty="0" err="1"/>
              <a:t>luctus</a:t>
            </a:r>
            <a:r>
              <a:rPr lang="fr-FR" sz="1400" dirty="0"/>
              <a:t> </a:t>
            </a:r>
            <a:r>
              <a:rPr lang="fr-FR" sz="1400" dirty="0" err="1"/>
              <a:t>nisl</a:t>
            </a:r>
            <a:r>
              <a:rPr lang="fr-FR" sz="1400" dirty="0"/>
              <a:t>, ut </a:t>
            </a:r>
            <a:r>
              <a:rPr lang="fr-FR" sz="1400" dirty="0" err="1"/>
              <a:t>viverra</a:t>
            </a:r>
            <a:r>
              <a:rPr lang="fr-FR" sz="1400" dirty="0"/>
              <a:t> </a:t>
            </a:r>
            <a:r>
              <a:rPr lang="fr-FR" sz="1400" dirty="0" err="1"/>
              <a:t>eros</a:t>
            </a:r>
            <a:r>
              <a:rPr lang="fr-FR" sz="1400" dirty="0"/>
              <a:t>. Suspendisse </a:t>
            </a:r>
            <a:r>
              <a:rPr lang="fr-FR" sz="1400" dirty="0" err="1"/>
              <a:t>pharetra</a:t>
            </a:r>
            <a:r>
              <a:rPr lang="fr-FR" sz="1400" dirty="0"/>
              <a:t> </a:t>
            </a:r>
            <a:r>
              <a:rPr lang="fr-FR" sz="1400" dirty="0" err="1"/>
              <a:t>mattis</a:t>
            </a:r>
            <a:r>
              <a:rPr lang="fr-FR" sz="1400" dirty="0"/>
              <a:t> </a:t>
            </a:r>
            <a:r>
              <a:rPr lang="fr-FR" sz="1400" dirty="0" err="1"/>
              <a:t>purus</a:t>
            </a:r>
            <a:r>
              <a:rPr lang="fr-FR" sz="1400" dirty="0"/>
              <a:t> eu.”</a:t>
            </a:r>
          </a:p>
        </p:txBody>
      </p: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A3D7D3F3-ED08-4CA9-8310-32E50A7BB0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87283" y="5462588"/>
            <a:ext cx="0" cy="79533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2D6D7C7-ED2D-4325-93B0-EE2B9C2B2CF7}"/>
              </a:ext>
            </a:extLst>
          </p:cNvPr>
          <p:cNvSpPr/>
          <p:nvPr/>
        </p:nvSpPr>
        <p:spPr>
          <a:xfrm>
            <a:off x="533406" y="5644812"/>
            <a:ext cx="2331714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>
                <a:solidFill>
                  <a:schemeClr val="accent3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5 980 650,32</a:t>
            </a:r>
          </a:p>
        </p:txBody>
      </p:sp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8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du projet</a:t>
            </a: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 : Coins arrondis 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23008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dirty="0">
                <a:latin typeface="+mj-lt"/>
              </a:rPr>
              <a:t>POSITIF</a:t>
            </a:r>
          </a:p>
        </p:txBody>
      </p:sp>
      <p:sp>
        <p:nvSpPr>
          <p:cNvPr id="26" name="Rectangle : Coins arrondis 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631371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dirty="0">
                <a:latin typeface="+mj-lt"/>
              </a:rPr>
              <a:t>NÉGATIF</a:t>
            </a:r>
          </a:p>
        </p:txBody>
      </p:sp>
      <p:sp>
        <p:nvSpPr>
          <p:cNvPr id="27" name="Rectangle : Coins arrondis 26">
            <a:extLst>
              <a:ext uri="{FF2B5EF4-FFF2-40B4-BE49-F238E27FC236}">
                <a16:creationId xmlns:a16="http://schemas.microsoft.com/office/drawing/2014/main" id="{EBD06280-71F4-4832-A31C-772537FAE929}"/>
              </a:ext>
            </a:extLst>
          </p:cNvPr>
          <p:cNvSpPr/>
          <p:nvPr/>
        </p:nvSpPr>
        <p:spPr>
          <a:xfrm rot="16200000">
            <a:off x="-106838" y="4864308"/>
            <a:ext cx="1972763" cy="66479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dirty="0">
                <a:latin typeface="+mj-lt"/>
              </a:rPr>
              <a:t>EXTERNE</a:t>
            </a:r>
          </a:p>
        </p:txBody>
      </p:sp>
      <p:sp>
        <p:nvSpPr>
          <p:cNvPr id="28" name="Rectangle : Coins arrondis 27">
            <a:extLst>
              <a:ext uri="{FF2B5EF4-FFF2-40B4-BE49-F238E27FC236}">
                <a16:creationId xmlns:a16="http://schemas.microsoft.com/office/drawing/2014/main" id="{C917D965-B5BB-41DC-BB5E-C27AF802DD50}"/>
              </a:ext>
            </a:extLst>
          </p:cNvPr>
          <p:cNvSpPr/>
          <p:nvPr/>
        </p:nvSpPr>
        <p:spPr>
          <a:xfrm rot="16200000">
            <a:off x="-106838" y="2758556"/>
            <a:ext cx="1972763" cy="66479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dirty="0">
                <a:latin typeface="+mj-lt"/>
              </a:rPr>
              <a:t>INTERNE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CBC1BB2-55FC-4E8F-A171-32FAA820D2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5888" y="4143831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31A2EAE-EBE4-4CB7-9D0A-105837E80B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ECF613A-FCF5-4CC5-AA46-DABB088D7230}"/>
              </a:ext>
            </a:extLst>
          </p:cNvPr>
          <p:cNvSpPr/>
          <p:nvPr/>
        </p:nvSpPr>
        <p:spPr>
          <a:xfrm>
            <a:off x="1632408" y="2604468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42CE6B-862D-4B18-B10B-3436A7D24058}"/>
              </a:ext>
            </a:extLst>
          </p:cNvPr>
          <p:cNvSpPr/>
          <p:nvPr/>
        </p:nvSpPr>
        <p:spPr>
          <a:xfrm>
            <a:off x="6716039" y="2604468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30C0AE-B52E-4C65-A461-AD2F7D2362DE}"/>
              </a:ext>
            </a:extLst>
          </p:cNvPr>
          <p:cNvSpPr/>
          <p:nvPr/>
        </p:nvSpPr>
        <p:spPr>
          <a:xfrm>
            <a:off x="1632408" y="4710220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783ACB-62DF-4DA3-9240-822BAEA78497}"/>
              </a:ext>
            </a:extLst>
          </p:cNvPr>
          <p:cNvSpPr/>
          <p:nvPr/>
        </p:nvSpPr>
        <p:spPr>
          <a:xfrm>
            <a:off x="6716039" y="4710220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73DD7D-A9F5-4D7E-A942-64AE3F48B264}"/>
              </a:ext>
            </a:extLst>
          </p:cNvPr>
          <p:cNvSpPr/>
          <p:nvPr/>
        </p:nvSpPr>
        <p:spPr>
          <a:xfrm>
            <a:off x="1632399" y="2198171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POINTS FORTS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967C4C-72D9-469E-BB08-F31A36FBD11D}"/>
              </a:ext>
            </a:extLst>
          </p:cNvPr>
          <p:cNvSpPr/>
          <p:nvPr/>
        </p:nvSpPr>
        <p:spPr>
          <a:xfrm>
            <a:off x="6716039" y="2198171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POINTS FAIBLES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A2A928-93BB-46FE-9683-5A5BAADF87B3}"/>
              </a:ext>
            </a:extLst>
          </p:cNvPr>
          <p:cNvSpPr/>
          <p:nvPr/>
        </p:nvSpPr>
        <p:spPr>
          <a:xfrm>
            <a:off x="1632399" y="4303915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OPPORTUNITÉ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4D1B01-F5DB-4D77-80D5-5CACEA0F7047}"/>
              </a:ext>
            </a:extLst>
          </p:cNvPr>
          <p:cNvSpPr/>
          <p:nvPr/>
        </p:nvSpPr>
        <p:spPr>
          <a:xfrm>
            <a:off x="6716039" y="4303915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MENACE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10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du projet</a:t>
            </a: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aphique 3" descr="Cette image est un graphique à barres. ">
            <a:extLst>
              <a:ext uri="{FF2B5EF4-FFF2-40B4-BE49-F238E27FC236}">
                <a16:creationId xmlns:a16="http://schemas.microsoft.com/office/drawing/2014/main" id="{8B833BE5-F2DA-4155-B25C-866FA190E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685620"/>
              </p:ext>
            </p:extLst>
          </p:nvPr>
        </p:nvGraphicFramePr>
        <p:xfrm>
          <a:off x="522777" y="1511873"/>
          <a:ext cx="6551476" cy="4367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400925" y="2026444"/>
            <a:ext cx="4268298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Duis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suscipit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bibendum. Sed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congue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lacus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vitae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finibus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eu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faucibus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nisi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ullamcorper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400925" y="3546456"/>
            <a:ext cx="4268298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Duis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suscipit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bibendum. Sed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congue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lacus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vitae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finibus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eu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faucibus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nisi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ullamcorper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53CF038C-66AF-4E81-9068-703EC0088620}"/>
              </a:ext>
            </a:extLst>
          </p:cNvPr>
          <p:cNvSpPr/>
          <p:nvPr/>
        </p:nvSpPr>
        <p:spPr>
          <a:xfrm>
            <a:off x="7400925" y="5066469"/>
            <a:ext cx="4268298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Duis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suscipit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bibendum. Sed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congue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lacus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vitae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finibus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eu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faucibus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nisi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ullamcorper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5" name="Forme libre 931" descr="Icône de graphique en courbes">
            <a:extLst>
              <a:ext uri="{FF2B5EF4-FFF2-40B4-BE49-F238E27FC236}">
                <a16:creationId xmlns:a16="http://schemas.microsoft.com/office/drawing/2014/main" id="{D6E99607-03B7-41E5-AD6F-79DCFC17E713}"/>
              </a:ext>
            </a:extLst>
          </p:cNvPr>
          <p:cNvSpPr>
            <a:spLocks noEditPoints="1"/>
          </p:cNvSpPr>
          <p:nvPr/>
        </p:nvSpPr>
        <p:spPr bwMode="auto">
          <a:xfrm>
            <a:off x="9425537" y="161422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16" name="Groupe 15" descr="Cette image est une icône représentant quatre feuilles de papier. ">
            <a:extLst>
              <a:ext uri="{FF2B5EF4-FFF2-40B4-BE49-F238E27FC236}">
                <a16:creationId xmlns:a16="http://schemas.microsoft.com/office/drawing/2014/main" id="{6071F41E-4B08-43F7-BBE7-4A555CA73C1B}"/>
              </a:ext>
            </a:extLst>
          </p:cNvPr>
          <p:cNvGrpSpPr/>
          <p:nvPr/>
        </p:nvGrpSpPr>
        <p:grpSpPr>
          <a:xfrm>
            <a:off x="9415218" y="4652698"/>
            <a:ext cx="239712" cy="285750"/>
            <a:chOff x="5494338" y="1370013"/>
            <a:chExt cx="239712" cy="285750"/>
          </a:xfrm>
          <a:solidFill>
            <a:schemeClr val="accent4">
              <a:lumMod val="75000"/>
            </a:schemeClr>
          </a:solidFill>
        </p:grpSpPr>
        <p:sp>
          <p:nvSpPr>
            <p:cNvPr id="17" name="Forme libre 961">
              <a:extLst>
                <a:ext uri="{FF2B5EF4-FFF2-40B4-BE49-F238E27FC236}">
                  <a16:creationId xmlns:a16="http://schemas.microsoft.com/office/drawing/2014/main" id="{A4A2E5CB-F1CB-4509-8FE7-B24010CB5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8" name="Forme libre 962">
              <a:extLst>
                <a:ext uri="{FF2B5EF4-FFF2-40B4-BE49-F238E27FC236}">
                  <a16:creationId xmlns:a16="http://schemas.microsoft.com/office/drawing/2014/main" id="{644A9833-5FFF-4479-A665-0AEDD8C25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 963">
              <a:extLst>
                <a:ext uri="{FF2B5EF4-FFF2-40B4-BE49-F238E27FC236}">
                  <a16:creationId xmlns:a16="http://schemas.microsoft.com/office/drawing/2014/main" id="{A6452485-9CCD-4979-A80D-5838A64ED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0" name="Forme libre 964">
              <a:extLst>
                <a:ext uri="{FF2B5EF4-FFF2-40B4-BE49-F238E27FC236}">
                  <a16:creationId xmlns:a16="http://schemas.microsoft.com/office/drawing/2014/main" id="{5FFD2F41-7C2C-45FD-8108-197BFC996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21" name="Groupe 20" descr="Cette image est une icône représentant deux feuilles de papier. ">
            <a:extLst>
              <a:ext uri="{FF2B5EF4-FFF2-40B4-BE49-F238E27FC236}">
                <a16:creationId xmlns:a16="http://schemas.microsoft.com/office/drawing/2014/main" id="{411839F8-FB7F-4D1C-9734-BE03FFF894B2}"/>
              </a:ext>
            </a:extLst>
          </p:cNvPr>
          <p:cNvGrpSpPr/>
          <p:nvPr/>
        </p:nvGrpSpPr>
        <p:grpSpPr>
          <a:xfrm>
            <a:off x="9391405" y="3139847"/>
            <a:ext cx="287338" cy="285750"/>
            <a:chOff x="4319588" y="1370013"/>
            <a:chExt cx="287338" cy="285750"/>
          </a:xfrm>
          <a:solidFill>
            <a:schemeClr val="accent3">
              <a:lumMod val="75000"/>
            </a:schemeClr>
          </a:solidFill>
        </p:grpSpPr>
        <p:sp>
          <p:nvSpPr>
            <p:cNvPr id="22" name="Forme libre 1084">
              <a:extLst>
                <a:ext uri="{FF2B5EF4-FFF2-40B4-BE49-F238E27FC236}">
                  <a16:creationId xmlns:a16="http://schemas.microsoft.com/office/drawing/2014/main" id="{07EEFD79-9F4F-4E94-94F0-8CD35D7877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9588" y="1370013"/>
              <a:ext cx="161925" cy="209550"/>
            </a:xfrm>
            <a:custGeom>
              <a:avLst/>
              <a:gdLst>
                <a:gd name="T0" fmla="*/ 278 w 410"/>
                <a:gd name="T1" fmla="*/ 133 h 529"/>
                <a:gd name="T2" fmla="*/ 278 w 410"/>
                <a:gd name="T3" fmla="*/ 12 h 529"/>
                <a:gd name="T4" fmla="*/ 398 w 410"/>
                <a:gd name="T5" fmla="*/ 133 h 529"/>
                <a:gd name="T6" fmla="*/ 278 w 410"/>
                <a:gd name="T7" fmla="*/ 133 h 529"/>
                <a:gd name="T8" fmla="*/ 410 w 410"/>
                <a:gd name="T9" fmla="*/ 133 h 529"/>
                <a:gd name="T10" fmla="*/ 409 w 410"/>
                <a:gd name="T11" fmla="*/ 129 h 529"/>
                <a:gd name="T12" fmla="*/ 406 w 410"/>
                <a:gd name="T13" fmla="*/ 123 h 529"/>
                <a:gd name="T14" fmla="*/ 286 w 410"/>
                <a:gd name="T15" fmla="*/ 3 h 529"/>
                <a:gd name="T16" fmla="*/ 282 w 410"/>
                <a:gd name="T17" fmla="*/ 1 h 529"/>
                <a:gd name="T18" fmla="*/ 278 w 410"/>
                <a:gd name="T19" fmla="*/ 0 h 529"/>
                <a:gd name="T20" fmla="*/ 12 w 410"/>
                <a:gd name="T21" fmla="*/ 0 h 529"/>
                <a:gd name="T22" fmla="*/ 7 w 410"/>
                <a:gd name="T23" fmla="*/ 1 h 529"/>
                <a:gd name="T24" fmla="*/ 4 w 410"/>
                <a:gd name="T25" fmla="*/ 3 h 529"/>
                <a:gd name="T26" fmla="*/ 1 w 410"/>
                <a:gd name="T27" fmla="*/ 7 h 529"/>
                <a:gd name="T28" fmla="*/ 0 w 410"/>
                <a:gd name="T29" fmla="*/ 12 h 529"/>
                <a:gd name="T30" fmla="*/ 0 w 410"/>
                <a:gd name="T31" fmla="*/ 518 h 529"/>
                <a:gd name="T32" fmla="*/ 1 w 410"/>
                <a:gd name="T33" fmla="*/ 522 h 529"/>
                <a:gd name="T34" fmla="*/ 4 w 410"/>
                <a:gd name="T35" fmla="*/ 526 h 529"/>
                <a:gd name="T36" fmla="*/ 7 w 410"/>
                <a:gd name="T37" fmla="*/ 529 h 529"/>
                <a:gd name="T38" fmla="*/ 12 w 410"/>
                <a:gd name="T39" fmla="*/ 529 h 529"/>
                <a:gd name="T40" fmla="*/ 290 w 410"/>
                <a:gd name="T41" fmla="*/ 529 h 529"/>
                <a:gd name="T42" fmla="*/ 290 w 410"/>
                <a:gd name="T43" fmla="*/ 181 h 529"/>
                <a:gd name="T44" fmla="*/ 290 w 410"/>
                <a:gd name="T45" fmla="*/ 177 h 529"/>
                <a:gd name="T46" fmla="*/ 293 w 410"/>
                <a:gd name="T47" fmla="*/ 172 h 529"/>
                <a:gd name="T48" fmla="*/ 297 w 410"/>
                <a:gd name="T49" fmla="*/ 169 h 529"/>
                <a:gd name="T50" fmla="*/ 301 w 410"/>
                <a:gd name="T51" fmla="*/ 168 h 529"/>
                <a:gd name="T52" fmla="*/ 410 w 410"/>
                <a:gd name="T53" fmla="*/ 168 h 529"/>
                <a:gd name="T54" fmla="*/ 410 w 410"/>
                <a:gd name="T55" fmla="*/ 13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0" h="529">
                  <a:moveTo>
                    <a:pt x="278" y="133"/>
                  </a:moveTo>
                  <a:lnTo>
                    <a:pt x="278" y="12"/>
                  </a:lnTo>
                  <a:lnTo>
                    <a:pt x="398" y="133"/>
                  </a:lnTo>
                  <a:lnTo>
                    <a:pt x="278" y="133"/>
                  </a:lnTo>
                  <a:close/>
                  <a:moveTo>
                    <a:pt x="410" y="133"/>
                  </a:moveTo>
                  <a:lnTo>
                    <a:pt x="409" y="129"/>
                  </a:lnTo>
                  <a:lnTo>
                    <a:pt x="406" y="123"/>
                  </a:ln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9"/>
                  </a:lnTo>
                  <a:lnTo>
                    <a:pt x="12" y="529"/>
                  </a:lnTo>
                  <a:lnTo>
                    <a:pt x="290" y="529"/>
                  </a:lnTo>
                  <a:lnTo>
                    <a:pt x="290" y="181"/>
                  </a:lnTo>
                  <a:lnTo>
                    <a:pt x="290" y="177"/>
                  </a:lnTo>
                  <a:lnTo>
                    <a:pt x="293" y="172"/>
                  </a:lnTo>
                  <a:lnTo>
                    <a:pt x="297" y="169"/>
                  </a:lnTo>
                  <a:lnTo>
                    <a:pt x="301" y="168"/>
                  </a:lnTo>
                  <a:lnTo>
                    <a:pt x="410" y="168"/>
                  </a:lnTo>
                  <a:lnTo>
                    <a:pt x="410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3" name="Forme libre 1085">
              <a:extLst>
                <a:ext uri="{FF2B5EF4-FFF2-40B4-BE49-F238E27FC236}">
                  <a16:creationId xmlns:a16="http://schemas.microsoft.com/office/drawing/2014/main" id="{1EA0DC39-43EE-4E75-8303-A6AAAF344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325" y="1374775"/>
              <a:ext cx="90488" cy="66675"/>
            </a:xfrm>
            <a:custGeom>
              <a:avLst/>
              <a:gdLst>
                <a:gd name="T0" fmla="*/ 2 w 229"/>
                <a:gd name="T1" fmla="*/ 80 h 169"/>
                <a:gd name="T2" fmla="*/ 3 w 229"/>
                <a:gd name="T3" fmla="*/ 82 h 169"/>
                <a:gd name="T4" fmla="*/ 64 w 229"/>
                <a:gd name="T5" fmla="*/ 141 h 169"/>
                <a:gd name="T6" fmla="*/ 73 w 229"/>
                <a:gd name="T7" fmla="*/ 144 h 169"/>
                <a:gd name="T8" fmla="*/ 81 w 229"/>
                <a:gd name="T9" fmla="*/ 141 h 169"/>
                <a:gd name="T10" fmla="*/ 84 w 229"/>
                <a:gd name="T11" fmla="*/ 132 h 169"/>
                <a:gd name="T12" fmla="*/ 81 w 229"/>
                <a:gd name="T13" fmla="*/ 124 h 169"/>
                <a:gd name="T14" fmla="*/ 163 w 229"/>
                <a:gd name="T15" fmla="*/ 85 h 169"/>
                <a:gd name="T16" fmla="*/ 179 w 229"/>
                <a:gd name="T17" fmla="*/ 88 h 169"/>
                <a:gd name="T18" fmla="*/ 192 w 229"/>
                <a:gd name="T19" fmla="*/ 96 h 169"/>
                <a:gd name="T20" fmla="*/ 201 w 229"/>
                <a:gd name="T21" fmla="*/ 107 h 169"/>
                <a:gd name="T22" fmla="*/ 204 w 229"/>
                <a:gd name="T23" fmla="*/ 121 h 169"/>
                <a:gd name="T24" fmla="*/ 205 w 229"/>
                <a:gd name="T25" fmla="*/ 161 h 169"/>
                <a:gd name="T26" fmla="*/ 212 w 229"/>
                <a:gd name="T27" fmla="*/ 168 h 169"/>
                <a:gd name="T28" fmla="*/ 222 w 229"/>
                <a:gd name="T29" fmla="*/ 168 h 169"/>
                <a:gd name="T30" fmla="*/ 228 w 229"/>
                <a:gd name="T31" fmla="*/ 161 h 169"/>
                <a:gd name="T32" fmla="*/ 229 w 229"/>
                <a:gd name="T33" fmla="*/ 121 h 169"/>
                <a:gd name="T34" fmla="*/ 228 w 229"/>
                <a:gd name="T35" fmla="*/ 108 h 169"/>
                <a:gd name="T36" fmla="*/ 223 w 229"/>
                <a:gd name="T37" fmla="*/ 97 h 169"/>
                <a:gd name="T38" fmla="*/ 217 w 229"/>
                <a:gd name="T39" fmla="*/ 87 h 169"/>
                <a:gd name="T40" fmla="*/ 207 w 229"/>
                <a:gd name="T41" fmla="*/ 78 h 169"/>
                <a:gd name="T42" fmla="*/ 187 w 229"/>
                <a:gd name="T43" fmla="*/ 66 h 169"/>
                <a:gd name="T44" fmla="*/ 176 w 229"/>
                <a:gd name="T45" fmla="*/ 63 h 169"/>
                <a:gd name="T46" fmla="*/ 163 w 229"/>
                <a:gd name="T47" fmla="*/ 62 h 169"/>
                <a:gd name="T48" fmla="*/ 81 w 229"/>
                <a:gd name="T49" fmla="*/ 21 h 169"/>
                <a:gd name="T50" fmla="*/ 85 w 229"/>
                <a:gd name="T51" fmla="*/ 13 h 169"/>
                <a:gd name="T52" fmla="*/ 81 w 229"/>
                <a:gd name="T53" fmla="*/ 3 h 169"/>
                <a:gd name="T54" fmla="*/ 73 w 229"/>
                <a:gd name="T55" fmla="*/ 0 h 169"/>
                <a:gd name="T56" fmla="*/ 65 w 229"/>
                <a:gd name="T57" fmla="*/ 3 h 169"/>
                <a:gd name="T58" fmla="*/ 2 w 229"/>
                <a:gd name="T59" fmla="*/ 67 h 169"/>
                <a:gd name="T60" fmla="*/ 0 w 229"/>
                <a:gd name="T61" fmla="*/ 71 h 169"/>
                <a:gd name="T62" fmla="*/ 0 w 229"/>
                <a:gd name="T63" fmla="*/ 73 h 169"/>
                <a:gd name="T64" fmla="*/ 0 w 229"/>
                <a:gd name="T65" fmla="*/ 74 h 169"/>
                <a:gd name="T66" fmla="*/ 1 w 229"/>
                <a:gd name="T67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9" h="169">
                  <a:moveTo>
                    <a:pt x="1" y="78"/>
                  </a:moveTo>
                  <a:lnTo>
                    <a:pt x="2" y="80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64" y="141"/>
                  </a:lnTo>
                  <a:lnTo>
                    <a:pt x="68" y="143"/>
                  </a:lnTo>
                  <a:lnTo>
                    <a:pt x="73" y="144"/>
                  </a:lnTo>
                  <a:lnTo>
                    <a:pt x="77" y="143"/>
                  </a:lnTo>
                  <a:lnTo>
                    <a:pt x="81" y="141"/>
                  </a:lnTo>
                  <a:lnTo>
                    <a:pt x="83" y="137"/>
                  </a:lnTo>
                  <a:lnTo>
                    <a:pt x="84" y="132"/>
                  </a:lnTo>
                  <a:lnTo>
                    <a:pt x="83" y="128"/>
                  </a:lnTo>
                  <a:lnTo>
                    <a:pt x="81" y="124"/>
                  </a:lnTo>
                  <a:lnTo>
                    <a:pt x="41" y="85"/>
                  </a:lnTo>
                  <a:lnTo>
                    <a:pt x="163" y="85"/>
                  </a:lnTo>
                  <a:lnTo>
                    <a:pt x="172" y="86"/>
                  </a:lnTo>
                  <a:lnTo>
                    <a:pt x="179" y="88"/>
                  </a:lnTo>
                  <a:lnTo>
                    <a:pt x="186" y="92"/>
                  </a:lnTo>
                  <a:lnTo>
                    <a:pt x="192" y="96"/>
                  </a:lnTo>
                  <a:lnTo>
                    <a:pt x="197" y="102"/>
                  </a:lnTo>
                  <a:lnTo>
                    <a:pt x="201" y="107"/>
                  </a:lnTo>
                  <a:lnTo>
                    <a:pt x="203" y="114"/>
                  </a:lnTo>
                  <a:lnTo>
                    <a:pt x="204" y="121"/>
                  </a:lnTo>
                  <a:lnTo>
                    <a:pt x="204" y="156"/>
                  </a:lnTo>
                  <a:lnTo>
                    <a:pt x="205" y="161"/>
                  </a:lnTo>
                  <a:lnTo>
                    <a:pt x="208" y="166"/>
                  </a:lnTo>
                  <a:lnTo>
                    <a:pt x="212" y="168"/>
                  </a:lnTo>
                  <a:lnTo>
                    <a:pt x="217" y="169"/>
                  </a:lnTo>
                  <a:lnTo>
                    <a:pt x="222" y="168"/>
                  </a:lnTo>
                  <a:lnTo>
                    <a:pt x="226" y="166"/>
                  </a:lnTo>
                  <a:lnTo>
                    <a:pt x="228" y="161"/>
                  </a:lnTo>
                  <a:lnTo>
                    <a:pt x="229" y="156"/>
                  </a:lnTo>
                  <a:lnTo>
                    <a:pt x="229" y="121"/>
                  </a:lnTo>
                  <a:lnTo>
                    <a:pt x="229" y="115"/>
                  </a:lnTo>
                  <a:lnTo>
                    <a:pt x="228" y="108"/>
                  </a:lnTo>
                  <a:lnTo>
                    <a:pt x="226" y="102"/>
                  </a:lnTo>
                  <a:lnTo>
                    <a:pt x="223" y="97"/>
                  </a:lnTo>
                  <a:lnTo>
                    <a:pt x="220" y="92"/>
                  </a:lnTo>
                  <a:lnTo>
                    <a:pt x="217" y="87"/>
                  </a:lnTo>
                  <a:lnTo>
                    <a:pt x="212" y="82"/>
                  </a:lnTo>
                  <a:lnTo>
                    <a:pt x="207" y="78"/>
                  </a:lnTo>
                  <a:lnTo>
                    <a:pt x="197" y="71"/>
                  </a:lnTo>
                  <a:lnTo>
                    <a:pt x="187" y="66"/>
                  </a:lnTo>
                  <a:lnTo>
                    <a:pt x="181" y="64"/>
                  </a:lnTo>
                  <a:lnTo>
                    <a:pt x="176" y="63"/>
                  </a:lnTo>
                  <a:lnTo>
                    <a:pt x="170" y="62"/>
                  </a:lnTo>
                  <a:lnTo>
                    <a:pt x="163" y="62"/>
                  </a:lnTo>
                  <a:lnTo>
                    <a:pt x="41" y="62"/>
                  </a:lnTo>
                  <a:lnTo>
                    <a:pt x="81" y="21"/>
                  </a:lnTo>
                  <a:lnTo>
                    <a:pt x="84" y="17"/>
                  </a:lnTo>
                  <a:lnTo>
                    <a:pt x="85" y="13"/>
                  </a:lnTo>
                  <a:lnTo>
                    <a:pt x="84" y="7"/>
                  </a:lnTo>
                  <a:lnTo>
                    <a:pt x="81" y="3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3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4" name="Forme libre 1086">
              <a:extLst>
                <a:ext uri="{FF2B5EF4-FFF2-40B4-BE49-F238E27FC236}">
                  <a16:creationId xmlns:a16="http://schemas.microsoft.com/office/drawing/2014/main" id="{D8023874-1D0B-4F45-BAF8-7FD883B21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113" y="1593850"/>
              <a:ext cx="90488" cy="58738"/>
            </a:xfrm>
            <a:custGeom>
              <a:avLst/>
              <a:gdLst>
                <a:gd name="T0" fmla="*/ 225 w 228"/>
                <a:gd name="T1" fmla="*/ 65 h 146"/>
                <a:gd name="T2" fmla="*/ 165 w 228"/>
                <a:gd name="T3" fmla="*/ 5 h 146"/>
                <a:gd name="T4" fmla="*/ 161 w 228"/>
                <a:gd name="T5" fmla="*/ 2 h 146"/>
                <a:gd name="T6" fmla="*/ 156 w 228"/>
                <a:gd name="T7" fmla="*/ 1 h 146"/>
                <a:gd name="T8" fmla="*/ 152 w 228"/>
                <a:gd name="T9" fmla="*/ 2 h 146"/>
                <a:gd name="T10" fmla="*/ 148 w 228"/>
                <a:gd name="T11" fmla="*/ 5 h 146"/>
                <a:gd name="T12" fmla="*/ 145 w 228"/>
                <a:gd name="T13" fmla="*/ 8 h 146"/>
                <a:gd name="T14" fmla="*/ 144 w 228"/>
                <a:gd name="T15" fmla="*/ 13 h 146"/>
                <a:gd name="T16" fmla="*/ 145 w 228"/>
                <a:gd name="T17" fmla="*/ 17 h 146"/>
                <a:gd name="T18" fmla="*/ 148 w 228"/>
                <a:gd name="T19" fmla="*/ 21 h 146"/>
                <a:gd name="T20" fmla="*/ 187 w 228"/>
                <a:gd name="T21" fmla="*/ 61 h 146"/>
                <a:gd name="T22" fmla="*/ 64 w 228"/>
                <a:gd name="T23" fmla="*/ 61 h 146"/>
                <a:gd name="T24" fmla="*/ 58 w 228"/>
                <a:gd name="T25" fmla="*/ 61 h 146"/>
                <a:gd name="T26" fmla="*/ 51 w 228"/>
                <a:gd name="T27" fmla="*/ 60 h 146"/>
                <a:gd name="T28" fmla="*/ 45 w 228"/>
                <a:gd name="T29" fmla="*/ 58 h 146"/>
                <a:gd name="T30" fmla="*/ 37 w 228"/>
                <a:gd name="T31" fmla="*/ 55 h 146"/>
                <a:gd name="T32" fmla="*/ 32 w 228"/>
                <a:gd name="T33" fmla="*/ 52 h 146"/>
                <a:gd name="T34" fmla="*/ 27 w 228"/>
                <a:gd name="T35" fmla="*/ 48 h 146"/>
                <a:gd name="T36" fmla="*/ 26 w 228"/>
                <a:gd name="T37" fmla="*/ 45 h 146"/>
                <a:gd name="T38" fmla="*/ 24 w 228"/>
                <a:gd name="T39" fmla="*/ 42 h 146"/>
                <a:gd name="T40" fmla="*/ 24 w 228"/>
                <a:gd name="T41" fmla="*/ 39 h 146"/>
                <a:gd name="T42" fmla="*/ 23 w 228"/>
                <a:gd name="T43" fmla="*/ 36 h 146"/>
                <a:gd name="T44" fmla="*/ 23 w 228"/>
                <a:gd name="T45" fmla="*/ 12 h 146"/>
                <a:gd name="T46" fmla="*/ 22 w 228"/>
                <a:gd name="T47" fmla="*/ 7 h 146"/>
                <a:gd name="T48" fmla="*/ 20 w 228"/>
                <a:gd name="T49" fmla="*/ 4 h 146"/>
                <a:gd name="T50" fmla="*/ 16 w 228"/>
                <a:gd name="T51" fmla="*/ 1 h 146"/>
                <a:gd name="T52" fmla="*/ 12 w 228"/>
                <a:gd name="T53" fmla="*/ 0 h 146"/>
                <a:gd name="T54" fmla="*/ 7 w 228"/>
                <a:gd name="T55" fmla="*/ 1 h 146"/>
                <a:gd name="T56" fmla="*/ 3 w 228"/>
                <a:gd name="T57" fmla="*/ 4 h 146"/>
                <a:gd name="T58" fmla="*/ 1 w 228"/>
                <a:gd name="T59" fmla="*/ 7 h 146"/>
                <a:gd name="T60" fmla="*/ 0 w 228"/>
                <a:gd name="T61" fmla="*/ 12 h 146"/>
                <a:gd name="T62" fmla="*/ 0 w 228"/>
                <a:gd name="T63" fmla="*/ 36 h 146"/>
                <a:gd name="T64" fmla="*/ 0 w 228"/>
                <a:gd name="T65" fmla="*/ 42 h 146"/>
                <a:gd name="T66" fmla="*/ 1 w 228"/>
                <a:gd name="T67" fmla="*/ 48 h 146"/>
                <a:gd name="T68" fmla="*/ 3 w 228"/>
                <a:gd name="T69" fmla="*/ 53 h 146"/>
                <a:gd name="T70" fmla="*/ 5 w 228"/>
                <a:gd name="T71" fmla="*/ 58 h 146"/>
                <a:gd name="T72" fmla="*/ 8 w 228"/>
                <a:gd name="T73" fmla="*/ 62 h 146"/>
                <a:gd name="T74" fmla="*/ 12 w 228"/>
                <a:gd name="T75" fmla="*/ 66 h 146"/>
                <a:gd name="T76" fmla="*/ 16 w 228"/>
                <a:gd name="T77" fmla="*/ 70 h 146"/>
                <a:gd name="T78" fmla="*/ 20 w 228"/>
                <a:gd name="T79" fmla="*/ 73 h 146"/>
                <a:gd name="T80" fmla="*/ 30 w 228"/>
                <a:gd name="T81" fmla="*/ 79 h 146"/>
                <a:gd name="T82" fmla="*/ 41 w 228"/>
                <a:gd name="T83" fmla="*/ 83 h 146"/>
                <a:gd name="T84" fmla="*/ 53 w 228"/>
                <a:gd name="T85" fmla="*/ 85 h 146"/>
                <a:gd name="T86" fmla="*/ 64 w 228"/>
                <a:gd name="T87" fmla="*/ 86 h 146"/>
                <a:gd name="T88" fmla="*/ 187 w 228"/>
                <a:gd name="T89" fmla="*/ 86 h 146"/>
                <a:gd name="T90" fmla="*/ 148 w 228"/>
                <a:gd name="T91" fmla="*/ 125 h 146"/>
                <a:gd name="T92" fmla="*/ 145 w 228"/>
                <a:gd name="T93" fmla="*/ 130 h 146"/>
                <a:gd name="T94" fmla="*/ 144 w 228"/>
                <a:gd name="T95" fmla="*/ 134 h 146"/>
                <a:gd name="T96" fmla="*/ 145 w 228"/>
                <a:gd name="T97" fmla="*/ 138 h 146"/>
                <a:gd name="T98" fmla="*/ 148 w 228"/>
                <a:gd name="T99" fmla="*/ 142 h 146"/>
                <a:gd name="T100" fmla="*/ 152 w 228"/>
                <a:gd name="T101" fmla="*/ 145 h 146"/>
                <a:gd name="T102" fmla="*/ 156 w 228"/>
                <a:gd name="T103" fmla="*/ 146 h 146"/>
                <a:gd name="T104" fmla="*/ 161 w 228"/>
                <a:gd name="T105" fmla="*/ 145 h 146"/>
                <a:gd name="T106" fmla="*/ 165 w 228"/>
                <a:gd name="T107" fmla="*/ 142 h 146"/>
                <a:gd name="T108" fmla="*/ 225 w 228"/>
                <a:gd name="T109" fmla="*/ 82 h 146"/>
                <a:gd name="T110" fmla="*/ 226 w 228"/>
                <a:gd name="T111" fmla="*/ 80 h 146"/>
                <a:gd name="T112" fmla="*/ 227 w 228"/>
                <a:gd name="T113" fmla="*/ 79 h 146"/>
                <a:gd name="T114" fmla="*/ 228 w 228"/>
                <a:gd name="T115" fmla="*/ 72 h 146"/>
                <a:gd name="T116" fmla="*/ 227 w 228"/>
                <a:gd name="T117" fmla="*/ 68 h 146"/>
                <a:gd name="T118" fmla="*/ 226 w 228"/>
                <a:gd name="T119" fmla="*/ 66 h 146"/>
                <a:gd name="T120" fmla="*/ 225 w 228"/>
                <a:gd name="T121" fmla="*/ 6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8" h="146">
                  <a:moveTo>
                    <a:pt x="225" y="65"/>
                  </a:moveTo>
                  <a:lnTo>
                    <a:pt x="165" y="5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52" y="2"/>
                  </a:lnTo>
                  <a:lnTo>
                    <a:pt x="148" y="5"/>
                  </a:lnTo>
                  <a:lnTo>
                    <a:pt x="145" y="8"/>
                  </a:lnTo>
                  <a:lnTo>
                    <a:pt x="144" y="13"/>
                  </a:lnTo>
                  <a:lnTo>
                    <a:pt x="145" y="17"/>
                  </a:lnTo>
                  <a:lnTo>
                    <a:pt x="148" y="21"/>
                  </a:lnTo>
                  <a:lnTo>
                    <a:pt x="187" y="61"/>
                  </a:lnTo>
                  <a:lnTo>
                    <a:pt x="64" y="61"/>
                  </a:lnTo>
                  <a:lnTo>
                    <a:pt x="58" y="61"/>
                  </a:lnTo>
                  <a:lnTo>
                    <a:pt x="51" y="60"/>
                  </a:lnTo>
                  <a:lnTo>
                    <a:pt x="45" y="58"/>
                  </a:lnTo>
                  <a:lnTo>
                    <a:pt x="37" y="55"/>
                  </a:lnTo>
                  <a:lnTo>
                    <a:pt x="32" y="52"/>
                  </a:lnTo>
                  <a:lnTo>
                    <a:pt x="27" y="48"/>
                  </a:lnTo>
                  <a:lnTo>
                    <a:pt x="26" y="45"/>
                  </a:lnTo>
                  <a:lnTo>
                    <a:pt x="24" y="42"/>
                  </a:lnTo>
                  <a:lnTo>
                    <a:pt x="24" y="39"/>
                  </a:lnTo>
                  <a:lnTo>
                    <a:pt x="23" y="36"/>
                  </a:lnTo>
                  <a:lnTo>
                    <a:pt x="23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" y="48"/>
                  </a:lnTo>
                  <a:lnTo>
                    <a:pt x="3" y="53"/>
                  </a:lnTo>
                  <a:lnTo>
                    <a:pt x="5" y="58"/>
                  </a:lnTo>
                  <a:lnTo>
                    <a:pt x="8" y="62"/>
                  </a:lnTo>
                  <a:lnTo>
                    <a:pt x="12" y="66"/>
                  </a:lnTo>
                  <a:lnTo>
                    <a:pt x="16" y="70"/>
                  </a:lnTo>
                  <a:lnTo>
                    <a:pt x="20" y="73"/>
                  </a:lnTo>
                  <a:lnTo>
                    <a:pt x="30" y="79"/>
                  </a:lnTo>
                  <a:lnTo>
                    <a:pt x="41" y="83"/>
                  </a:lnTo>
                  <a:lnTo>
                    <a:pt x="53" y="85"/>
                  </a:lnTo>
                  <a:lnTo>
                    <a:pt x="64" y="86"/>
                  </a:lnTo>
                  <a:lnTo>
                    <a:pt x="187" y="86"/>
                  </a:lnTo>
                  <a:lnTo>
                    <a:pt x="148" y="125"/>
                  </a:lnTo>
                  <a:lnTo>
                    <a:pt x="145" y="130"/>
                  </a:lnTo>
                  <a:lnTo>
                    <a:pt x="144" y="134"/>
                  </a:lnTo>
                  <a:lnTo>
                    <a:pt x="145" y="138"/>
                  </a:lnTo>
                  <a:lnTo>
                    <a:pt x="148" y="142"/>
                  </a:lnTo>
                  <a:lnTo>
                    <a:pt x="152" y="145"/>
                  </a:lnTo>
                  <a:lnTo>
                    <a:pt x="156" y="146"/>
                  </a:lnTo>
                  <a:lnTo>
                    <a:pt x="161" y="145"/>
                  </a:lnTo>
                  <a:lnTo>
                    <a:pt x="165" y="142"/>
                  </a:lnTo>
                  <a:lnTo>
                    <a:pt x="225" y="82"/>
                  </a:lnTo>
                  <a:lnTo>
                    <a:pt x="226" y="80"/>
                  </a:lnTo>
                  <a:lnTo>
                    <a:pt x="227" y="79"/>
                  </a:lnTo>
                  <a:lnTo>
                    <a:pt x="228" y="72"/>
                  </a:lnTo>
                  <a:lnTo>
                    <a:pt x="227" y="68"/>
                  </a:lnTo>
                  <a:lnTo>
                    <a:pt x="226" y="66"/>
                  </a:lnTo>
                  <a:lnTo>
                    <a:pt x="225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5" name="Forme libre 1087">
              <a:extLst>
                <a:ext uri="{FF2B5EF4-FFF2-40B4-BE49-F238E27FC236}">
                  <a16:creationId xmlns:a16="http://schemas.microsoft.com/office/drawing/2014/main" id="{CA85A1E3-5078-4027-BAFF-0C6D14C74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3413" y="1446213"/>
              <a:ext cx="163513" cy="209550"/>
            </a:xfrm>
            <a:custGeom>
              <a:avLst/>
              <a:gdLst>
                <a:gd name="T0" fmla="*/ 278 w 410"/>
                <a:gd name="T1" fmla="*/ 132 h 529"/>
                <a:gd name="T2" fmla="*/ 278 w 410"/>
                <a:gd name="T3" fmla="*/ 12 h 529"/>
                <a:gd name="T4" fmla="*/ 398 w 410"/>
                <a:gd name="T5" fmla="*/ 132 h 529"/>
                <a:gd name="T6" fmla="*/ 278 w 410"/>
                <a:gd name="T7" fmla="*/ 132 h 529"/>
                <a:gd name="T8" fmla="*/ 406 w 410"/>
                <a:gd name="T9" fmla="*/ 123 h 529"/>
                <a:gd name="T10" fmla="*/ 286 w 410"/>
                <a:gd name="T11" fmla="*/ 3 h 529"/>
                <a:gd name="T12" fmla="*/ 282 w 410"/>
                <a:gd name="T13" fmla="*/ 1 h 529"/>
                <a:gd name="T14" fmla="*/ 278 w 410"/>
                <a:gd name="T15" fmla="*/ 0 h 529"/>
                <a:gd name="T16" fmla="*/ 13 w 410"/>
                <a:gd name="T17" fmla="*/ 0 h 529"/>
                <a:gd name="T18" fmla="*/ 0 w 410"/>
                <a:gd name="T19" fmla="*/ 0 h 529"/>
                <a:gd name="T20" fmla="*/ 0 w 410"/>
                <a:gd name="T21" fmla="*/ 12 h 529"/>
                <a:gd name="T22" fmla="*/ 0 w 410"/>
                <a:gd name="T23" fmla="*/ 518 h 529"/>
                <a:gd name="T24" fmla="*/ 1 w 410"/>
                <a:gd name="T25" fmla="*/ 522 h 529"/>
                <a:gd name="T26" fmla="*/ 4 w 410"/>
                <a:gd name="T27" fmla="*/ 526 h 529"/>
                <a:gd name="T28" fmla="*/ 7 w 410"/>
                <a:gd name="T29" fmla="*/ 528 h 529"/>
                <a:gd name="T30" fmla="*/ 13 w 410"/>
                <a:gd name="T31" fmla="*/ 529 h 529"/>
                <a:gd name="T32" fmla="*/ 398 w 410"/>
                <a:gd name="T33" fmla="*/ 529 h 529"/>
                <a:gd name="T34" fmla="*/ 402 w 410"/>
                <a:gd name="T35" fmla="*/ 528 h 529"/>
                <a:gd name="T36" fmla="*/ 406 w 410"/>
                <a:gd name="T37" fmla="*/ 526 h 529"/>
                <a:gd name="T38" fmla="*/ 409 w 410"/>
                <a:gd name="T39" fmla="*/ 522 h 529"/>
                <a:gd name="T40" fmla="*/ 410 w 410"/>
                <a:gd name="T41" fmla="*/ 518 h 529"/>
                <a:gd name="T42" fmla="*/ 410 w 410"/>
                <a:gd name="T43" fmla="*/ 132 h 529"/>
                <a:gd name="T44" fmla="*/ 409 w 410"/>
                <a:gd name="T45" fmla="*/ 127 h 529"/>
                <a:gd name="T46" fmla="*/ 406 w 410"/>
                <a:gd name="T47" fmla="*/ 12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0" h="529">
                  <a:moveTo>
                    <a:pt x="278" y="132"/>
                  </a:moveTo>
                  <a:lnTo>
                    <a:pt x="278" y="12"/>
                  </a:lnTo>
                  <a:lnTo>
                    <a:pt x="398" y="132"/>
                  </a:lnTo>
                  <a:lnTo>
                    <a:pt x="278" y="132"/>
                  </a:lnTo>
                  <a:close/>
                  <a:moveTo>
                    <a:pt x="406" y="123"/>
                  </a:move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8"/>
                  </a:lnTo>
                  <a:lnTo>
                    <a:pt x="13" y="529"/>
                  </a:lnTo>
                  <a:lnTo>
                    <a:pt x="398" y="529"/>
                  </a:lnTo>
                  <a:lnTo>
                    <a:pt x="402" y="528"/>
                  </a:lnTo>
                  <a:lnTo>
                    <a:pt x="406" y="526"/>
                  </a:lnTo>
                  <a:lnTo>
                    <a:pt x="409" y="522"/>
                  </a:lnTo>
                  <a:lnTo>
                    <a:pt x="410" y="518"/>
                  </a:lnTo>
                  <a:lnTo>
                    <a:pt x="410" y="132"/>
                  </a:lnTo>
                  <a:lnTo>
                    <a:pt x="409" y="127"/>
                  </a:lnTo>
                  <a:lnTo>
                    <a:pt x="40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Losange 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3" name="Losange 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5" name="Titr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fr-FR" sz="7200" b="1" dirty="0">
                <a:solidFill>
                  <a:schemeClr val="bg1"/>
                </a:solidFill>
              </a:rPr>
              <a:t>Merci</a:t>
            </a:r>
            <a:endParaRPr lang="fr-FR" sz="7200" dirty="0">
              <a:solidFill>
                <a:schemeClr val="accent4"/>
              </a:solidFill>
            </a:endParaRPr>
          </a:p>
        </p:txBody>
      </p:sp>
      <p:pic>
        <p:nvPicPr>
          <p:cNvPr id="6" name="Image 5" descr="Cette image est une icône indiquant « 24 diapositives ».">
            <a:hlinkClick r:id="rId3"/>
            <a:extLst>
              <a:ext uri="{FF2B5EF4-FFF2-40B4-BE49-F238E27FC236}">
                <a16:creationId xmlns:a16="http://schemas.microsoft.com/office/drawing/2014/main" id="{A86744F2-5246-4A0A-B119-35E7FB76A0D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332" y="5919419"/>
            <a:ext cx="1471335" cy="420363"/>
          </a:xfrm>
          <a:prstGeom prst="rect">
            <a:avLst/>
          </a:prstGeom>
          <a:effectLst/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10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29825" y="522898"/>
            <a:ext cx="21621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Modification des diapositives de données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16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2043112" y="2789343"/>
            <a:ext cx="2428875" cy="2172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 vous voulez modifier les données des graphiques inclus dans ce modèle, cliquez simplement avec le bouton droit dessus, puis sélectionnez </a:t>
            </a:r>
            <a:r>
              <a:rPr lang="fr-FR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Modifier les données dans Excel.</a:t>
            </a:r>
          </a:p>
          <a:p>
            <a:pPr rtl="0">
              <a:lnSpc>
                <a:spcPts val="1900"/>
              </a:lnSpc>
            </a:pPr>
            <a:endParaRPr lang="fr-FR" sz="1400" i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Excel s’ouvre et vous pouvez modifier les données souhaitées.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DB1F73-D09B-4348-9D26-3FCCB6C80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493" y="1604854"/>
            <a:ext cx="6138564" cy="3958094"/>
          </a:xfrm>
          <a:prstGeom prst="rect">
            <a:avLst/>
          </a:prstGeom>
        </p:spPr>
      </p:pic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09C05F0C-382F-476A-A0D2-932E111A7F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</a:t>
            </a:r>
            <a:r>
              <a:rPr lang="fr" dirty="0"/>
              <a:t>11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11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754783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64_TF78455520" id="{1B6B5A3F-3791-4D91-8BCC-053B27B038BF}" vid="{26B24478-322D-4DF5-BC15-C9CB3253BD4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Analyse de projet, tiré de 24Slides</Template>
  <TotalTime>0</TotalTime>
  <Words>773</Words>
  <Application>Microsoft Office PowerPoint</Application>
  <PresentationFormat>Grand écran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Segoe UI Light</vt:lpstr>
      <vt:lpstr>Thème Office</vt:lpstr>
      <vt:lpstr>Clean Connect Présentation</vt:lpstr>
      <vt:lpstr>Analyse du projet : diapositive 2</vt:lpstr>
      <vt:lpstr>Analyse du projet : diapositive 3</vt:lpstr>
      <vt:lpstr>Analyse du projet : diapositive 4</vt:lpstr>
      <vt:lpstr>Analyse du projet : diapositive 5</vt:lpstr>
      <vt:lpstr>Analyse du projet : diapositive 6</vt:lpstr>
      <vt:lpstr>Analyse du projet : diapositive 7</vt:lpstr>
      <vt:lpstr>Analyse du projet : diapositive 8</vt:lpstr>
      <vt:lpstr>Analyse du projet : diapositive 10</vt:lpstr>
      <vt:lpstr>Merci</vt:lpstr>
      <vt:lpstr>Analyse du projet : diapositive11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2025-07-22T09:45:32Z</dcterms:created>
  <dcterms:modified xsi:type="dcterms:W3CDTF">2025-07-22T14:38:40Z</dcterms:modified>
</cp:coreProperties>
</file>